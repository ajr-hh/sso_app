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2" r:id="rId3"/>
    <p:sldId id="263" r:id="rId4"/>
    <p:sldId id="273" r:id="rId5"/>
    <p:sldId id="257" r:id="rId6"/>
    <p:sldId id="258" r:id="rId7"/>
    <p:sldId id="259" r:id="rId8"/>
    <p:sldId id="260" r:id="rId9"/>
    <p:sldId id="264" r:id="rId10"/>
    <p:sldId id="261" r:id="rId11"/>
    <p:sldId id="265" r:id="rId12"/>
    <p:sldId id="272" r:id="rId13"/>
    <p:sldId id="274" r:id="rId14"/>
    <p:sldId id="276" r:id="rId15"/>
    <p:sldId id="277" r:id="rId16"/>
    <p:sldId id="266" r:id="rId17"/>
    <p:sldId id="267" r:id="rId18"/>
    <p:sldId id="280" r:id="rId19"/>
    <p:sldId id="282" r:id="rId20"/>
    <p:sldId id="281" r:id="rId21"/>
    <p:sldId id="279" r:id="rId22"/>
    <p:sldId id="278" r:id="rId23"/>
    <p:sldId id="275"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898E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A4442-0705-BE47-5D22-D3C96C824C1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8828385-DB4B-2E8C-EB55-5B150C62D04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183772C-C14D-0A78-BD38-16483B8471AE}"/>
              </a:ext>
            </a:extLst>
          </p:cNvPr>
          <p:cNvSpPr>
            <a:spLocks noGrp="1"/>
          </p:cNvSpPr>
          <p:nvPr>
            <p:ph type="dt" sz="half" idx="10"/>
          </p:nvPr>
        </p:nvSpPr>
        <p:spPr/>
        <p:txBody>
          <a:bodyPr/>
          <a:lstStyle/>
          <a:p>
            <a:fld id="{2FB2F560-706A-204F-B5FB-B92B0E171EB3}" type="datetimeFigureOut">
              <a:rPr lang="en-US" smtClean="0"/>
              <a:t>8/18/26</a:t>
            </a:fld>
            <a:endParaRPr lang="en-US" dirty="0"/>
          </a:p>
        </p:txBody>
      </p:sp>
      <p:sp>
        <p:nvSpPr>
          <p:cNvPr id="5" name="Footer Placeholder 4">
            <a:extLst>
              <a:ext uri="{FF2B5EF4-FFF2-40B4-BE49-F238E27FC236}">
                <a16:creationId xmlns:a16="http://schemas.microsoft.com/office/drawing/2014/main" id="{5DEC7021-0B70-63A1-098B-9CD97CE438B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0937595-2CAD-D7E7-2360-360FAAAA9C64}"/>
              </a:ext>
            </a:extLst>
          </p:cNvPr>
          <p:cNvSpPr>
            <a:spLocks noGrp="1"/>
          </p:cNvSpPr>
          <p:nvPr>
            <p:ph type="sldNum" sz="quarter" idx="12"/>
          </p:nvPr>
        </p:nvSpPr>
        <p:spPr/>
        <p:txBody>
          <a:bodyPr/>
          <a:lstStyle/>
          <a:p>
            <a:fld id="{459FBA73-EF23-5B4A-A8C9-EB79A6866547}" type="slidenum">
              <a:rPr lang="en-US" smtClean="0"/>
              <a:t>‹#›</a:t>
            </a:fld>
            <a:endParaRPr lang="en-US" dirty="0"/>
          </a:p>
        </p:txBody>
      </p:sp>
    </p:spTree>
    <p:extLst>
      <p:ext uri="{BB962C8B-B14F-4D97-AF65-F5344CB8AC3E}">
        <p14:creationId xmlns:p14="http://schemas.microsoft.com/office/powerpoint/2010/main" val="11707953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E5288E-5D23-4CE1-9A9F-795CA3FAAA6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D81B1B9-76BC-F473-3E45-559295620E9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124F87-846A-4BD5-A682-E43FED7B3B37}"/>
              </a:ext>
            </a:extLst>
          </p:cNvPr>
          <p:cNvSpPr>
            <a:spLocks noGrp="1"/>
          </p:cNvSpPr>
          <p:nvPr>
            <p:ph type="dt" sz="half" idx="10"/>
          </p:nvPr>
        </p:nvSpPr>
        <p:spPr/>
        <p:txBody>
          <a:bodyPr/>
          <a:lstStyle/>
          <a:p>
            <a:fld id="{2FB2F560-706A-204F-B5FB-B92B0E171EB3}" type="datetimeFigureOut">
              <a:rPr lang="en-US" smtClean="0"/>
              <a:t>8/18/26</a:t>
            </a:fld>
            <a:endParaRPr lang="en-US" dirty="0"/>
          </a:p>
        </p:txBody>
      </p:sp>
      <p:sp>
        <p:nvSpPr>
          <p:cNvPr id="5" name="Footer Placeholder 4">
            <a:extLst>
              <a:ext uri="{FF2B5EF4-FFF2-40B4-BE49-F238E27FC236}">
                <a16:creationId xmlns:a16="http://schemas.microsoft.com/office/drawing/2014/main" id="{F5F44476-7737-4DFC-1A3B-BD4FAA99135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911F01D-53F9-2EFC-8CA5-5E887FC49521}"/>
              </a:ext>
            </a:extLst>
          </p:cNvPr>
          <p:cNvSpPr>
            <a:spLocks noGrp="1"/>
          </p:cNvSpPr>
          <p:nvPr>
            <p:ph type="sldNum" sz="quarter" idx="12"/>
          </p:nvPr>
        </p:nvSpPr>
        <p:spPr/>
        <p:txBody>
          <a:bodyPr/>
          <a:lstStyle/>
          <a:p>
            <a:fld id="{459FBA73-EF23-5B4A-A8C9-EB79A6866547}" type="slidenum">
              <a:rPr lang="en-US" smtClean="0"/>
              <a:t>‹#›</a:t>
            </a:fld>
            <a:endParaRPr lang="en-US" dirty="0"/>
          </a:p>
        </p:txBody>
      </p:sp>
    </p:spTree>
    <p:extLst>
      <p:ext uri="{BB962C8B-B14F-4D97-AF65-F5344CB8AC3E}">
        <p14:creationId xmlns:p14="http://schemas.microsoft.com/office/powerpoint/2010/main" val="30688798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71A6B-A785-6F1C-4AD3-19659109127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25A6C7E-6F12-A49A-E5A2-91BD4F4E6DA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E586271-2D28-276E-4032-877B4C72C49F}"/>
              </a:ext>
            </a:extLst>
          </p:cNvPr>
          <p:cNvSpPr>
            <a:spLocks noGrp="1"/>
          </p:cNvSpPr>
          <p:nvPr>
            <p:ph type="dt" sz="half" idx="10"/>
          </p:nvPr>
        </p:nvSpPr>
        <p:spPr/>
        <p:txBody>
          <a:bodyPr/>
          <a:lstStyle/>
          <a:p>
            <a:fld id="{2FB2F560-706A-204F-B5FB-B92B0E171EB3}" type="datetimeFigureOut">
              <a:rPr lang="en-US" smtClean="0"/>
              <a:t>8/18/26</a:t>
            </a:fld>
            <a:endParaRPr lang="en-US" dirty="0"/>
          </a:p>
        </p:txBody>
      </p:sp>
      <p:sp>
        <p:nvSpPr>
          <p:cNvPr id="5" name="Footer Placeholder 4">
            <a:extLst>
              <a:ext uri="{FF2B5EF4-FFF2-40B4-BE49-F238E27FC236}">
                <a16:creationId xmlns:a16="http://schemas.microsoft.com/office/drawing/2014/main" id="{B4E05425-5824-0B8B-297E-DDF6183BCB9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0BC1980-CF21-2BC5-7BE1-0BE768A5A8BF}"/>
              </a:ext>
            </a:extLst>
          </p:cNvPr>
          <p:cNvSpPr>
            <a:spLocks noGrp="1"/>
          </p:cNvSpPr>
          <p:nvPr>
            <p:ph type="sldNum" sz="quarter" idx="12"/>
          </p:nvPr>
        </p:nvSpPr>
        <p:spPr/>
        <p:txBody>
          <a:bodyPr/>
          <a:lstStyle/>
          <a:p>
            <a:fld id="{459FBA73-EF23-5B4A-A8C9-EB79A6866547}" type="slidenum">
              <a:rPr lang="en-US" smtClean="0"/>
              <a:t>‹#›</a:t>
            </a:fld>
            <a:endParaRPr lang="en-US" dirty="0"/>
          </a:p>
        </p:txBody>
      </p:sp>
    </p:spTree>
    <p:extLst>
      <p:ext uri="{BB962C8B-B14F-4D97-AF65-F5344CB8AC3E}">
        <p14:creationId xmlns:p14="http://schemas.microsoft.com/office/powerpoint/2010/main" val="16172005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A646A7-53F0-0B39-BE5D-E5F6DDB383D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2F36DC5-FA13-DE3B-9332-42C5BE437B6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116AEA0-7B2C-3BB4-9D43-9E2F551DAA5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2854B48-F76F-629E-8A2E-40E0D6E2639B}"/>
              </a:ext>
            </a:extLst>
          </p:cNvPr>
          <p:cNvSpPr>
            <a:spLocks noGrp="1"/>
          </p:cNvSpPr>
          <p:nvPr>
            <p:ph type="dt" sz="half" idx="10"/>
          </p:nvPr>
        </p:nvSpPr>
        <p:spPr/>
        <p:txBody>
          <a:bodyPr/>
          <a:lstStyle/>
          <a:p>
            <a:fld id="{2FB2F560-706A-204F-B5FB-B92B0E171EB3}" type="datetimeFigureOut">
              <a:rPr lang="en-US" smtClean="0"/>
              <a:t>8/18/26</a:t>
            </a:fld>
            <a:endParaRPr lang="en-US" dirty="0"/>
          </a:p>
        </p:txBody>
      </p:sp>
      <p:sp>
        <p:nvSpPr>
          <p:cNvPr id="6" name="Footer Placeholder 5">
            <a:extLst>
              <a:ext uri="{FF2B5EF4-FFF2-40B4-BE49-F238E27FC236}">
                <a16:creationId xmlns:a16="http://schemas.microsoft.com/office/drawing/2014/main" id="{1971AF13-8A47-6051-4EA1-FACFEE206AB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9F9C1B2D-E550-9E6B-945B-9C621E717313}"/>
              </a:ext>
            </a:extLst>
          </p:cNvPr>
          <p:cNvSpPr>
            <a:spLocks noGrp="1"/>
          </p:cNvSpPr>
          <p:nvPr>
            <p:ph type="sldNum" sz="quarter" idx="12"/>
          </p:nvPr>
        </p:nvSpPr>
        <p:spPr/>
        <p:txBody>
          <a:bodyPr/>
          <a:lstStyle/>
          <a:p>
            <a:fld id="{459FBA73-EF23-5B4A-A8C9-EB79A6866547}" type="slidenum">
              <a:rPr lang="en-US" smtClean="0"/>
              <a:t>‹#›</a:t>
            </a:fld>
            <a:endParaRPr lang="en-US" dirty="0"/>
          </a:p>
        </p:txBody>
      </p:sp>
    </p:spTree>
    <p:extLst>
      <p:ext uri="{BB962C8B-B14F-4D97-AF65-F5344CB8AC3E}">
        <p14:creationId xmlns:p14="http://schemas.microsoft.com/office/powerpoint/2010/main" val="25177698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6F6C9-4F8B-BEEC-C48F-F7119843E39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36F8EFF-A960-B59E-5C6A-378908878FF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61A69B0-9BCF-31C6-DCD4-5CFB6224CA9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FF7045A-9135-9E6A-43E8-773BDCBEE34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F746FFF-04A4-1B5D-882A-124B509AB7B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55866CD-A8C2-5AB7-594E-57A6037BA4EC}"/>
              </a:ext>
            </a:extLst>
          </p:cNvPr>
          <p:cNvSpPr>
            <a:spLocks noGrp="1"/>
          </p:cNvSpPr>
          <p:nvPr>
            <p:ph type="dt" sz="half" idx="10"/>
          </p:nvPr>
        </p:nvSpPr>
        <p:spPr/>
        <p:txBody>
          <a:bodyPr/>
          <a:lstStyle/>
          <a:p>
            <a:fld id="{2FB2F560-706A-204F-B5FB-B92B0E171EB3}" type="datetimeFigureOut">
              <a:rPr lang="en-US" smtClean="0"/>
              <a:t>8/18/26</a:t>
            </a:fld>
            <a:endParaRPr lang="en-US" dirty="0"/>
          </a:p>
        </p:txBody>
      </p:sp>
      <p:sp>
        <p:nvSpPr>
          <p:cNvPr id="8" name="Footer Placeholder 7">
            <a:extLst>
              <a:ext uri="{FF2B5EF4-FFF2-40B4-BE49-F238E27FC236}">
                <a16:creationId xmlns:a16="http://schemas.microsoft.com/office/drawing/2014/main" id="{C67B201F-4E5C-C2F7-D6A6-AEB4292A8CC5}"/>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087C8BD-8456-9AC0-FE7F-D1FF776C58D7}"/>
              </a:ext>
            </a:extLst>
          </p:cNvPr>
          <p:cNvSpPr>
            <a:spLocks noGrp="1"/>
          </p:cNvSpPr>
          <p:nvPr>
            <p:ph type="sldNum" sz="quarter" idx="12"/>
          </p:nvPr>
        </p:nvSpPr>
        <p:spPr/>
        <p:txBody>
          <a:bodyPr/>
          <a:lstStyle/>
          <a:p>
            <a:fld id="{459FBA73-EF23-5B4A-A8C9-EB79A6866547}" type="slidenum">
              <a:rPr lang="en-US" smtClean="0"/>
              <a:t>‹#›</a:t>
            </a:fld>
            <a:endParaRPr lang="en-US" dirty="0"/>
          </a:p>
        </p:txBody>
      </p:sp>
    </p:spTree>
    <p:extLst>
      <p:ext uri="{BB962C8B-B14F-4D97-AF65-F5344CB8AC3E}">
        <p14:creationId xmlns:p14="http://schemas.microsoft.com/office/powerpoint/2010/main" val="30834637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C74DC-F2B1-E6CE-A31C-DD295EFD075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0F78DF7-4702-B62D-DA23-61F79BCABAB6}"/>
              </a:ext>
            </a:extLst>
          </p:cNvPr>
          <p:cNvSpPr>
            <a:spLocks noGrp="1"/>
          </p:cNvSpPr>
          <p:nvPr>
            <p:ph type="dt" sz="half" idx="10"/>
          </p:nvPr>
        </p:nvSpPr>
        <p:spPr/>
        <p:txBody>
          <a:bodyPr/>
          <a:lstStyle/>
          <a:p>
            <a:fld id="{2FB2F560-706A-204F-B5FB-B92B0E171EB3}" type="datetimeFigureOut">
              <a:rPr lang="en-US" smtClean="0"/>
              <a:t>8/18/26</a:t>
            </a:fld>
            <a:endParaRPr lang="en-US" dirty="0"/>
          </a:p>
        </p:txBody>
      </p:sp>
      <p:sp>
        <p:nvSpPr>
          <p:cNvPr id="4" name="Footer Placeholder 3">
            <a:extLst>
              <a:ext uri="{FF2B5EF4-FFF2-40B4-BE49-F238E27FC236}">
                <a16:creationId xmlns:a16="http://schemas.microsoft.com/office/drawing/2014/main" id="{D641387F-4999-DC93-9E78-1DDE3C7CB5E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5688C302-D217-CDEC-2483-809818A4D13A}"/>
              </a:ext>
            </a:extLst>
          </p:cNvPr>
          <p:cNvSpPr>
            <a:spLocks noGrp="1"/>
          </p:cNvSpPr>
          <p:nvPr>
            <p:ph type="sldNum" sz="quarter" idx="12"/>
          </p:nvPr>
        </p:nvSpPr>
        <p:spPr/>
        <p:txBody>
          <a:bodyPr/>
          <a:lstStyle/>
          <a:p>
            <a:fld id="{459FBA73-EF23-5B4A-A8C9-EB79A6866547}" type="slidenum">
              <a:rPr lang="en-US" smtClean="0"/>
              <a:t>‹#›</a:t>
            </a:fld>
            <a:endParaRPr lang="en-US" dirty="0"/>
          </a:p>
        </p:txBody>
      </p:sp>
    </p:spTree>
    <p:extLst>
      <p:ext uri="{BB962C8B-B14F-4D97-AF65-F5344CB8AC3E}">
        <p14:creationId xmlns:p14="http://schemas.microsoft.com/office/powerpoint/2010/main" val="13119265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8EF4499-C888-749B-E66E-34788AC4D6FE}"/>
              </a:ext>
            </a:extLst>
          </p:cNvPr>
          <p:cNvSpPr>
            <a:spLocks noGrp="1"/>
          </p:cNvSpPr>
          <p:nvPr>
            <p:ph type="dt" sz="half" idx="10"/>
          </p:nvPr>
        </p:nvSpPr>
        <p:spPr/>
        <p:txBody>
          <a:bodyPr/>
          <a:lstStyle/>
          <a:p>
            <a:fld id="{2FB2F560-706A-204F-B5FB-B92B0E171EB3}" type="datetimeFigureOut">
              <a:rPr lang="en-US" smtClean="0"/>
              <a:t>8/18/26</a:t>
            </a:fld>
            <a:endParaRPr lang="en-US" dirty="0"/>
          </a:p>
        </p:txBody>
      </p:sp>
      <p:sp>
        <p:nvSpPr>
          <p:cNvPr id="3" name="Footer Placeholder 2">
            <a:extLst>
              <a:ext uri="{FF2B5EF4-FFF2-40B4-BE49-F238E27FC236}">
                <a16:creationId xmlns:a16="http://schemas.microsoft.com/office/drawing/2014/main" id="{19C47A50-8789-DB9E-A63C-7B031C4723AE}"/>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385EEE1-29E9-270B-2EE6-EE933C0F6F74}"/>
              </a:ext>
            </a:extLst>
          </p:cNvPr>
          <p:cNvSpPr>
            <a:spLocks noGrp="1"/>
          </p:cNvSpPr>
          <p:nvPr>
            <p:ph type="sldNum" sz="quarter" idx="12"/>
          </p:nvPr>
        </p:nvSpPr>
        <p:spPr/>
        <p:txBody>
          <a:bodyPr/>
          <a:lstStyle/>
          <a:p>
            <a:fld id="{459FBA73-EF23-5B4A-A8C9-EB79A6866547}" type="slidenum">
              <a:rPr lang="en-US" smtClean="0"/>
              <a:t>‹#›</a:t>
            </a:fld>
            <a:endParaRPr lang="en-US" dirty="0"/>
          </a:p>
        </p:txBody>
      </p:sp>
    </p:spTree>
    <p:extLst>
      <p:ext uri="{BB962C8B-B14F-4D97-AF65-F5344CB8AC3E}">
        <p14:creationId xmlns:p14="http://schemas.microsoft.com/office/powerpoint/2010/main" val="31516167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01D0C3-CFFC-4D86-2CD1-392E24CC2CA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51109D4-1F95-E41D-73C5-04151C015E4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ECE5A3F-7986-5924-5CF9-192FE81E96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ECCBA29-F9CE-9777-1DA8-D48C71E16A34}"/>
              </a:ext>
            </a:extLst>
          </p:cNvPr>
          <p:cNvSpPr>
            <a:spLocks noGrp="1"/>
          </p:cNvSpPr>
          <p:nvPr>
            <p:ph type="dt" sz="half" idx="10"/>
          </p:nvPr>
        </p:nvSpPr>
        <p:spPr/>
        <p:txBody>
          <a:bodyPr/>
          <a:lstStyle/>
          <a:p>
            <a:fld id="{2FB2F560-706A-204F-B5FB-B92B0E171EB3}" type="datetimeFigureOut">
              <a:rPr lang="en-US" smtClean="0"/>
              <a:t>8/18/26</a:t>
            </a:fld>
            <a:endParaRPr lang="en-US" dirty="0"/>
          </a:p>
        </p:txBody>
      </p:sp>
      <p:sp>
        <p:nvSpPr>
          <p:cNvPr id="6" name="Footer Placeholder 5">
            <a:extLst>
              <a:ext uri="{FF2B5EF4-FFF2-40B4-BE49-F238E27FC236}">
                <a16:creationId xmlns:a16="http://schemas.microsoft.com/office/drawing/2014/main" id="{7BCFE349-76FF-A9D2-7D71-909FB1E9276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DE0D534-C74E-9433-898C-6A399E073434}"/>
              </a:ext>
            </a:extLst>
          </p:cNvPr>
          <p:cNvSpPr>
            <a:spLocks noGrp="1"/>
          </p:cNvSpPr>
          <p:nvPr>
            <p:ph type="sldNum" sz="quarter" idx="12"/>
          </p:nvPr>
        </p:nvSpPr>
        <p:spPr/>
        <p:txBody>
          <a:bodyPr/>
          <a:lstStyle/>
          <a:p>
            <a:fld id="{459FBA73-EF23-5B4A-A8C9-EB79A6866547}" type="slidenum">
              <a:rPr lang="en-US" smtClean="0"/>
              <a:t>‹#›</a:t>
            </a:fld>
            <a:endParaRPr lang="en-US" dirty="0"/>
          </a:p>
        </p:txBody>
      </p:sp>
    </p:spTree>
    <p:extLst>
      <p:ext uri="{BB962C8B-B14F-4D97-AF65-F5344CB8AC3E}">
        <p14:creationId xmlns:p14="http://schemas.microsoft.com/office/powerpoint/2010/main" val="23122615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EA5E4F-4F6C-33A4-3C1B-A53E55756F4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82B023D-4157-B556-9644-BC8390B3FC4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996083AA-371A-7401-B3AF-FE4D623628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907BC8-9685-6C76-4FF2-D7F1CF38FBD9}"/>
              </a:ext>
            </a:extLst>
          </p:cNvPr>
          <p:cNvSpPr>
            <a:spLocks noGrp="1"/>
          </p:cNvSpPr>
          <p:nvPr>
            <p:ph type="dt" sz="half" idx="10"/>
          </p:nvPr>
        </p:nvSpPr>
        <p:spPr/>
        <p:txBody>
          <a:bodyPr/>
          <a:lstStyle/>
          <a:p>
            <a:fld id="{2FB2F560-706A-204F-B5FB-B92B0E171EB3}" type="datetimeFigureOut">
              <a:rPr lang="en-US" smtClean="0"/>
              <a:t>8/18/26</a:t>
            </a:fld>
            <a:endParaRPr lang="en-US" dirty="0"/>
          </a:p>
        </p:txBody>
      </p:sp>
      <p:sp>
        <p:nvSpPr>
          <p:cNvPr id="6" name="Footer Placeholder 5">
            <a:extLst>
              <a:ext uri="{FF2B5EF4-FFF2-40B4-BE49-F238E27FC236}">
                <a16:creationId xmlns:a16="http://schemas.microsoft.com/office/drawing/2014/main" id="{0A1C5A78-8BF5-1159-E7EB-69F3C87ABD9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987D7C1-1C0F-5ED9-E03B-6BCF0E5E4D59}"/>
              </a:ext>
            </a:extLst>
          </p:cNvPr>
          <p:cNvSpPr>
            <a:spLocks noGrp="1"/>
          </p:cNvSpPr>
          <p:nvPr>
            <p:ph type="sldNum" sz="quarter" idx="12"/>
          </p:nvPr>
        </p:nvSpPr>
        <p:spPr/>
        <p:txBody>
          <a:bodyPr/>
          <a:lstStyle/>
          <a:p>
            <a:fld id="{459FBA73-EF23-5B4A-A8C9-EB79A6866547}" type="slidenum">
              <a:rPr lang="en-US" smtClean="0"/>
              <a:t>‹#›</a:t>
            </a:fld>
            <a:endParaRPr lang="en-US" dirty="0"/>
          </a:p>
        </p:txBody>
      </p:sp>
    </p:spTree>
    <p:extLst>
      <p:ext uri="{BB962C8B-B14F-4D97-AF65-F5344CB8AC3E}">
        <p14:creationId xmlns:p14="http://schemas.microsoft.com/office/powerpoint/2010/main" val="16777773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990FA-DB53-D527-208C-8F4D92CBFEA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28CAC96-C962-6B62-9B15-4FA4612229A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D376CD6-8915-9BC4-1EE5-6FCF5CBB0D21}"/>
              </a:ext>
            </a:extLst>
          </p:cNvPr>
          <p:cNvSpPr>
            <a:spLocks noGrp="1"/>
          </p:cNvSpPr>
          <p:nvPr>
            <p:ph type="dt" sz="half" idx="10"/>
          </p:nvPr>
        </p:nvSpPr>
        <p:spPr/>
        <p:txBody>
          <a:bodyPr/>
          <a:lstStyle/>
          <a:p>
            <a:fld id="{2FB2F560-706A-204F-B5FB-B92B0E171EB3}" type="datetimeFigureOut">
              <a:rPr lang="en-US" smtClean="0"/>
              <a:t>8/18/26</a:t>
            </a:fld>
            <a:endParaRPr lang="en-US" dirty="0"/>
          </a:p>
        </p:txBody>
      </p:sp>
      <p:sp>
        <p:nvSpPr>
          <p:cNvPr id="5" name="Footer Placeholder 4">
            <a:extLst>
              <a:ext uri="{FF2B5EF4-FFF2-40B4-BE49-F238E27FC236}">
                <a16:creationId xmlns:a16="http://schemas.microsoft.com/office/drawing/2014/main" id="{0662AFDB-C255-45F7-166E-6BF796E51E8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B629174-A53B-9FBD-6FCF-749D9D278D52}"/>
              </a:ext>
            </a:extLst>
          </p:cNvPr>
          <p:cNvSpPr>
            <a:spLocks noGrp="1"/>
          </p:cNvSpPr>
          <p:nvPr>
            <p:ph type="sldNum" sz="quarter" idx="12"/>
          </p:nvPr>
        </p:nvSpPr>
        <p:spPr/>
        <p:txBody>
          <a:bodyPr/>
          <a:lstStyle/>
          <a:p>
            <a:fld id="{459FBA73-EF23-5B4A-A8C9-EB79A6866547}" type="slidenum">
              <a:rPr lang="en-US" smtClean="0"/>
              <a:t>‹#›</a:t>
            </a:fld>
            <a:endParaRPr lang="en-US" dirty="0"/>
          </a:p>
        </p:txBody>
      </p:sp>
    </p:spTree>
    <p:extLst>
      <p:ext uri="{BB962C8B-B14F-4D97-AF65-F5344CB8AC3E}">
        <p14:creationId xmlns:p14="http://schemas.microsoft.com/office/powerpoint/2010/main" val="28934677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4BE26E1-6416-AFEB-8C78-EBFEF6980FF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808E9F2-DB6D-4F68-0EB3-59FB1532BC6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6AA953-B414-F436-19D6-2FB12CFE1E5E}"/>
              </a:ext>
            </a:extLst>
          </p:cNvPr>
          <p:cNvSpPr>
            <a:spLocks noGrp="1"/>
          </p:cNvSpPr>
          <p:nvPr>
            <p:ph type="dt" sz="half" idx="10"/>
          </p:nvPr>
        </p:nvSpPr>
        <p:spPr/>
        <p:txBody>
          <a:bodyPr/>
          <a:lstStyle/>
          <a:p>
            <a:fld id="{2FB2F560-706A-204F-B5FB-B92B0E171EB3}" type="datetimeFigureOut">
              <a:rPr lang="en-US" smtClean="0"/>
              <a:t>8/18/26</a:t>
            </a:fld>
            <a:endParaRPr lang="en-US" dirty="0"/>
          </a:p>
        </p:txBody>
      </p:sp>
      <p:sp>
        <p:nvSpPr>
          <p:cNvPr id="5" name="Footer Placeholder 4">
            <a:extLst>
              <a:ext uri="{FF2B5EF4-FFF2-40B4-BE49-F238E27FC236}">
                <a16:creationId xmlns:a16="http://schemas.microsoft.com/office/drawing/2014/main" id="{D4512E66-CDB1-AF6E-E0E0-23C27A569C9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AA2B3CC-050F-AD49-A0B3-B92C299E90BD}"/>
              </a:ext>
            </a:extLst>
          </p:cNvPr>
          <p:cNvSpPr>
            <a:spLocks noGrp="1"/>
          </p:cNvSpPr>
          <p:nvPr>
            <p:ph type="sldNum" sz="quarter" idx="12"/>
          </p:nvPr>
        </p:nvSpPr>
        <p:spPr/>
        <p:txBody>
          <a:bodyPr/>
          <a:lstStyle/>
          <a:p>
            <a:fld id="{459FBA73-EF23-5B4A-A8C9-EB79A6866547}" type="slidenum">
              <a:rPr lang="en-US" smtClean="0"/>
              <a:t>‹#›</a:t>
            </a:fld>
            <a:endParaRPr lang="en-US" dirty="0"/>
          </a:p>
        </p:txBody>
      </p:sp>
    </p:spTree>
    <p:extLst>
      <p:ext uri="{BB962C8B-B14F-4D97-AF65-F5344CB8AC3E}">
        <p14:creationId xmlns:p14="http://schemas.microsoft.com/office/powerpoint/2010/main" val="39994866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CA56CBC-A689-CA15-24EC-73A125F3639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DD814F2-C6CF-0BAE-FA08-558D9AB93EF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25377D-ACDA-52C2-5CA1-EBB76665700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FB2F560-706A-204F-B5FB-B92B0E171EB3}" type="datetimeFigureOut">
              <a:rPr lang="en-US" smtClean="0"/>
              <a:t>8/18/26</a:t>
            </a:fld>
            <a:endParaRPr lang="en-US" dirty="0"/>
          </a:p>
        </p:txBody>
      </p:sp>
      <p:sp>
        <p:nvSpPr>
          <p:cNvPr id="5" name="Footer Placeholder 4">
            <a:extLst>
              <a:ext uri="{FF2B5EF4-FFF2-40B4-BE49-F238E27FC236}">
                <a16:creationId xmlns:a16="http://schemas.microsoft.com/office/drawing/2014/main" id="{77242D57-4BA9-0957-1B75-1024F0FE81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0A3C011E-0B4A-764D-9E17-88CCF10C2FD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9FBA73-EF23-5B4A-A8C9-EB79A6866547}" type="slidenum">
              <a:rPr lang="en-US" smtClean="0"/>
              <a:t>‹#›</a:t>
            </a:fld>
            <a:endParaRPr lang="en-US" dirty="0"/>
          </a:p>
        </p:txBody>
      </p:sp>
    </p:spTree>
    <p:extLst>
      <p:ext uri="{BB962C8B-B14F-4D97-AF65-F5344CB8AC3E}">
        <p14:creationId xmlns:p14="http://schemas.microsoft.com/office/powerpoint/2010/main" val="15728674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0.jpe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image" Target="../media/image7.jpeg"/></Relationships>
</file>

<file path=ppt/slides/_rels/slide7.xml.rels><?xml version="1.0" encoding="UTF-8" standalone="yes"?>
<Relationships xmlns="http://schemas.openxmlformats.org/package/2006/relationships"><Relationship Id="rId3" Type="http://schemas.openxmlformats.org/officeDocument/2006/relationships/hyperlink" Target="https://www.healthwise.net/premierhealth/Content/StdDocument.aspx?DOCHWID=hw113087"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DE8ED-2337-CC8C-20A9-6CBD43392AA6}"/>
              </a:ext>
            </a:extLst>
          </p:cNvPr>
          <p:cNvSpPr>
            <a:spLocks noGrp="1"/>
          </p:cNvSpPr>
          <p:nvPr>
            <p:ph type="ctrTitle"/>
          </p:nvPr>
        </p:nvSpPr>
        <p:spPr/>
        <p:txBody>
          <a:bodyPr/>
          <a:lstStyle/>
          <a:p>
            <a:r>
              <a:rPr lang="en-US" dirty="0"/>
              <a:t>SOS (Save One Setback) Button</a:t>
            </a:r>
          </a:p>
        </p:txBody>
      </p:sp>
      <p:sp>
        <p:nvSpPr>
          <p:cNvPr id="3" name="Subtitle 2">
            <a:extLst>
              <a:ext uri="{FF2B5EF4-FFF2-40B4-BE49-F238E27FC236}">
                <a16:creationId xmlns:a16="http://schemas.microsoft.com/office/drawing/2014/main" id="{804B140E-5075-3A22-7620-EF78973E06FF}"/>
              </a:ext>
            </a:extLst>
          </p:cNvPr>
          <p:cNvSpPr>
            <a:spLocks noGrp="1"/>
          </p:cNvSpPr>
          <p:nvPr>
            <p:ph type="subTitle" idx="1"/>
          </p:nvPr>
        </p:nvSpPr>
        <p:spPr/>
        <p:txBody>
          <a:bodyPr/>
          <a:lstStyle/>
          <a:p>
            <a:r>
              <a:rPr lang="en-US" dirty="0"/>
              <a:t>12/29/23</a:t>
            </a:r>
          </a:p>
        </p:txBody>
      </p:sp>
    </p:spTree>
    <p:extLst>
      <p:ext uri="{BB962C8B-B14F-4D97-AF65-F5344CB8AC3E}">
        <p14:creationId xmlns:p14="http://schemas.microsoft.com/office/powerpoint/2010/main" val="21113815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C0B30-D413-FA3D-B192-F4353A95B0F8}"/>
              </a:ext>
            </a:extLst>
          </p:cNvPr>
          <p:cNvSpPr>
            <a:spLocks noGrp="1"/>
          </p:cNvSpPr>
          <p:nvPr>
            <p:ph type="title"/>
          </p:nvPr>
        </p:nvSpPr>
        <p:spPr/>
        <p:txBody>
          <a:bodyPr/>
          <a:lstStyle/>
          <a:p>
            <a:r>
              <a:rPr lang="en-US" dirty="0"/>
              <a:t>Background</a:t>
            </a:r>
          </a:p>
        </p:txBody>
      </p:sp>
      <p:sp>
        <p:nvSpPr>
          <p:cNvPr id="3" name="Content Placeholder 2">
            <a:extLst>
              <a:ext uri="{FF2B5EF4-FFF2-40B4-BE49-F238E27FC236}">
                <a16:creationId xmlns:a16="http://schemas.microsoft.com/office/drawing/2014/main" id="{2804664C-CE06-20F9-51A1-2BE664B54755}"/>
              </a:ext>
            </a:extLst>
          </p:cNvPr>
          <p:cNvSpPr>
            <a:spLocks noGrp="1"/>
          </p:cNvSpPr>
          <p:nvPr>
            <p:ph idx="1"/>
          </p:nvPr>
        </p:nvSpPr>
        <p:spPr/>
        <p:txBody>
          <a:bodyPr>
            <a:normAutofit fontScale="92500" lnSpcReduction="10000"/>
          </a:bodyPr>
          <a:lstStyle/>
          <a:p>
            <a:r>
              <a:rPr lang="en-US" dirty="0"/>
              <a:t>Dieting is hard.   Dieters don’t tend to stick to diets beyond the first few days / weeks.  Or they gain back the weight they lose (and in many cases gain back extra weight).</a:t>
            </a:r>
          </a:p>
          <a:p>
            <a:endParaRPr lang="en-US" dirty="0"/>
          </a:p>
          <a:p>
            <a:r>
              <a:rPr lang="en-US" dirty="0"/>
              <a:t>There are many tools to help dieters.  SOS is not trying to replicate all these tools.  Instead, SOS will focus on a couple of very specific issues related to successfully dieting / losing weight.</a:t>
            </a:r>
          </a:p>
          <a:p>
            <a:endParaRPr lang="en-US" dirty="0"/>
          </a:p>
          <a:p>
            <a:r>
              <a:rPr lang="en-US" dirty="0"/>
              <a:t>SOS has the secondary objective of adding something fun / engaging to the </a:t>
            </a:r>
            <a:r>
              <a:rPr lang="en-US" dirty="0" err="1"/>
              <a:t>Humanaut</a:t>
            </a:r>
            <a:r>
              <a:rPr lang="en-US" dirty="0"/>
              <a:t> Health (https://</a:t>
            </a:r>
            <a:r>
              <a:rPr lang="en-US" dirty="0" err="1"/>
              <a:t>humanauthealth.com</a:t>
            </a:r>
            <a:r>
              <a:rPr lang="en-US" dirty="0"/>
              <a:t>).  Health and wellness is a serious issue, but we need to make it as engaging as possible.</a:t>
            </a:r>
          </a:p>
        </p:txBody>
      </p:sp>
    </p:spTree>
    <p:extLst>
      <p:ext uri="{BB962C8B-B14F-4D97-AF65-F5344CB8AC3E}">
        <p14:creationId xmlns:p14="http://schemas.microsoft.com/office/powerpoint/2010/main" val="4875379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5BF34E-5E87-F0D7-AE21-D7B379D8E651}"/>
              </a:ext>
            </a:extLst>
          </p:cNvPr>
          <p:cNvSpPr>
            <a:spLocks noGrp="1"/>
          </p:cNvSpPr>
          <p:nvPr>
            <p:ph type="title"/>
          </p:nvPr>
        </p:nvSpPr>
        <p:spPr/>
        <p:txBody>
          <a:bodyPr/>
          <a:lstStyle/>
          <a:p>
            <a:r>
              <a:rPr lang="en-US" dirty="0"/>
              <a:t>How it works</a:t>
            </a:r>
          </a:p>
        </p:txBody>
      </p:sp>
      <p:sp>
        <p:nvSpPr>
          <p:cNvPr id="3" name="Content Placeholder 2">
            <a:extLst>
              <a:ext uri="{FF2B5EF4-FFF2-40B4-BE49-F238E27FC236}">
                <a16:creationId xmlns:a16="http://schemas.microsoft.com/office/drawing/2014/main" id="{8F5A1AE3-7454-552F-1511-3B56B131509D}"/>
              </a:ext>
            </a:extLst>
          </p:cNvPr>
          <p:cNvSpPr>
            <a:spLocks noGrp="1"/>
          </p:cNvSpPr>
          <p:nvPr>
            <p:ph idx="1"/>
          </p:nvPr>
        </p:nvSpPr>
        <p:spPr/>
        <p:txBody>
          <a:bodyPr>
            <a:normAutofit fontScale="92500" lnSpcReduction="10000"/>
          </a:bodyPr>
          <a:lstStyle/>
          <a:p>
            <a:pPr marL="0" indent="0">
              <a:buNone/>
            </a:pPr>
            <a:r>
              <a:rPr lang="en-US" dirty="0"/>
              <a:t>SOS is focused on three very specific components of losing weight:</a:t>
            </a:r>
          </a:p>
          <a:p>
            <a:pPr marL="0" indent="0">
              <a:buNone/>
            </a:pPr>
            <a:endParaRPr lang="en-US" dirty="0"/>
          </a:p>
          <a:p>
            <a:pPr marL="514350" indent="-514350">
              <a:buAutoNum type="arabicPeriod"/>
            </a:pPr>
            <a:r>
              <a:rPr lang="en-US" dirty="0"/>
              <a:t>Help avoid some of the big slip-ups.</a:t>
            </a:r>
          </a:p>
          <a:p>
            <a:pPr marL="514350" indent="-514350">
              <a:buFont typeface="Arial" panose="020B0604020202020204" pitchFamily="34" charset="0"/>
              <a:buAutoNum type="arabicPeriod"/>
            </a:pPr>
            <a:r>
              <a:rPr lang="en-US" dirty="0"/>
              <a:t>Help deal with a planned diet mistake (i.e. holidays, special occasions, moments that matter).  </a:t>
            </a:r>
          </a:p>
          <a:p>
            <a:pPr marL="514350" indent="-514350">
              <a:buFont typeface="Arial" panose="020B0604020202020204" pitchFamily="34" charset="0"/>
              <a:buAutoNum type="arabicPeriod"/>
            </a:pPr>
            <a:r>
              <a:rPr lang="en-US" dirty="0"/>
              <a:t>Help get a dieter right back on track if a slip-up occurs.</a:t>
            </a:r>
          </a:p>
          <a:p>
            <a:endParaRPr lang="en-US" dirty="0"/>
          </a:p>
          <a:p>
            <a:pPr marL="0" indent="0">
              <a:buNone/>
            </a:pPr>
            <a:r>
              <a:rPr lang="en-US" dirty="0"/>
              <a:t>It does this by using different motivators, by reminding dieters why they are on their weight loss journey, and by creating some accountability tools / partners. </a:t>
            </a:r>
          </a:p>
        </p:txBody>
      </p:sp>
    </p:spTree>
    <p:extLst>
      <p:ext uri="{BB962C8B-B14F-4D97-AF65-F5344CB8AC3E}">
        <p14:creationId xmlns:p14="http://schemas.microsoft.com/office/powerpoint/2010/main" val="34694689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15B321-D022-0E6A-EC06-72134AE8EB44}"/>
              </a:ext>
            </a:extLst>
          </p:cNvPr>
          <p:cNvSpPr>
            <a:spLocks noGrp="1"/>
          </p:cNvSpPr>
          <p:nvPr>
            <p:ph type="title"/>
          </p:nvPr>
        </p:nvSpPr>
        <p:spPr>
          <a:xfrm>
            <a:off x="4028303" y="165557"/>
            <a:ext cx="7387728" cy="1325563"/>
          </a:xfrm>
        </p:spPr>
        <p:txBody>
          <a:bodyPr/>
          <a:lstStyle/>
          <a:p>
            <a:pPr algn="ctr"/>
            <a:r>
              <a:rPr lang="en-US" dirty="0"/>
              <a:t>SOS</a:t>
            </a:r>
          </a:p>
        </p:txBody>
      </p:sp>
      <p:pic>
        <p:nvPicPr>
          <p:cNvPr id="4" name="Picture 3">
            <a:extLst>
              <a:ext uri="{FF2B5EF4-FFF2-40B4-BE49-F238E27FC236}">
                <a16:creationId xmlns:a16="http://schemas.microsoft.com/office/drawing/2014/main" id="{AE75A5BD-3F7C-FFC7-9AEE-54A03FA66980}"/>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939113" y="534824"/>
            <a:ext cx="3089190" cy="5980352"/>
          </a:xfrm>
          <a:prstGeom prst="rect">
            <a:avLst/>
          </a:prstGeom>
        </p:spPr>
      </p:pic>
      <p:sp>
        <p:nvSpPr>
          <p:cNvPr id="5" name="TextBox 4">
            <a:extLst>
              <a:ext uri="{FF2B5EF4-FFF2-40B4-BE49-F238E27FC236}">
                <a16:creationId xmlns:a16="http://schemas.microsoft.com/office/drawing/2014/main" id="{4044BE36-C685-EA85-4EEB-E393285C5F2E}"/>
              </a:ext>
            </a:extLst>
          </p:cNvPr>
          <p:cNvSpPr txBox="1"/>
          <p:nvPr/>
        </p:nvSpPr>
        <p:spPr>
          <a:xfrm>
            <a:off x="1255924" y="5866481"/>
            <a:ext cx="616944" cy="246221"/>
          </a:xfrm>
          <a:prstGeom prst="rect">
            <a:avLst/>
          </a:prstGeom>
          <a:noFill/>
        </p:spPr>
        <p:txBody>
          <a:bodyPr wrap="square" rtlCol="0">
            <a:spAutoFit/>
          </a:bodyPr>
          <a:lstStyle/>
          <a:p>
            <a:r>
              <a:rPr lang="en-US" sz="1000" b="1" dirty="0"/>
              <a:t>Account</a:t>
            </a:r>
          </a:p>
        </p:txBody>
      </p:sp>
      <p:sp>
        <p:nvSpPr>
          <p:cNvPr id="6" name="TextBox 5">
            <a:extLst>
              <a:ext uri="{FF2B5EF4-FFF2-40B4-BE49-F238E27FC236}">
                <a16:creationId xmlns:a16="http://schemas.microsoft.com/office/drawing/2014/main" id="{049342E6-D81A-DE32-BB0C-79A61B8CE188}"/>
              </a:ext>
            </a:extLst>
          </p:cNvPr>
          <p:cNvSpPr txBox="1"/>
          <p:nvPr/>
        </p:nvSpPr>
        <p:spPr>
          <a:xfrm>
            <a:off x="1824021" y="5866481"/>
            <a:ext cx="590226" cy="246221"/>
          </a:xfrm>
          <a:prstGeom prst="rect">
            <a:avLst/>
          </a:prstGeom>
          <a:noFill/>
        </p:spPr>
        <p:txBody>
          <a:bodyPr wrap="none" rtlCol="0">
            <a:spAutoFit/>
          </a:bodyPr>
          <a:lstStyle/>
          <a:p>
            <a:r>
              <a:rPr lang="en-US" sz="1000" b="1" dirty="0"/>
              <a:t>Activity</a:t>
            </a:r>
            <a:endParaRPr lang="en-US" sz="1100" b="1" dirty="0"/>
          </a:p>
        </p:txBody>
      </p:sp>
      <p:sp>
        <p:nvSpPr>
          <p:cNvPr id="7" name="TextBox 6">
            <a:extLst>
              <a:ext uri="{FF2B5EF4-FFF2-40B4-BE49-F238E27FC236}">
                <a16:creationId xmlns:a16="http://schemas.microsoft.com/office/drawing/2014/main" id="{F2F3524D-88FC-8964-EA67-1F5274D516BA}"/>
              </a:ext>
            </a:extLst>
          </p:cNvPr>
          <p:cNvSpPr txBox="1"/>
          <p:nvPr/>
        </p:nvSpPr>
        <p:spPr>
          <a:xfrm>
            <a:off x="2347767" y="5866481"/>
            <a:ext cx="535724" cy="246221"/>
          </a:xfrm>
          <a:prstGeom prst="rect">
            <a:avLst/>
          </a:prstGeom>
          <a:noFill/>
        </p:spPr>
        <p:txBody>
          <a:bodyPr wrap="none" rtlCol="0">
            <a:spAutoFit/>
          </a:bodyPr>
          <a:lstStyle/>
          <a:p>
            <a:r>
              <a:rPr lang="en-US" sz="1000" b="1" dirty="0"/>
              <a:t>Profile</a:t>
            </a:r>
            <a:endParaRPr lang="en-US" sz="1100" b="1" dirty="0"/>
          </a:p>
        </p:txBody>
      </p:sp>
      <p:sp>
        <p:nvSpPr>
          <p:cNvPr id="8" name="TextBox 7">
            <a:extLst>
              <a:ext uri="{FF2B5EF4-FFF2-40B4-BE49-F238E27FC236}">
                <a16:creationId xmlns:a16="http://schemas.microsoft.com/office/drawing/2014/main" id="{4B5B8EA7-7DE0-ABF3-0272-487FB8578E45}"/>
              </a:ext>
            </a:extLst>
          </p:cNvPr>
          <p:cNvSpPr txBox="1"/>
          <p:nvPr/>
        </p:nvSpPr>
        <p:spPr>
          <a:xfrm>
            <a:off x="3175645" y="5866481"/>
            <a:ext cx="470000" cy="246221"/>
          </a:xfrm>
          <a:prstGeom prst="rect">
            <a:avLst/>
          </a:prstGeom>
          <a:solidFill>
            <a:schemeClr val="bg1"/>
          </a:solidFill>
        </p:spPr>
        <p:txBody>
          <a:bodyPr wrap="none" rtlCol="0">
            <a:spAutoFit/>
          </a:bodyPr>
          <a:lstStyle/>
          <a:p>
            <a:r>
              <a:rPr lang="en-US" sz="1000" b="1" dirty="0"/>
              <a:t>Panic</a:t>
            </a:r>
            <a:endParaRPr lang="en-US" sz="1100" b="1" dirty="0"/>
          </a:p>
        </p:txBody>
      </p:sp>
      <p:sp>
        <p:nvSpPr>
          <p:cNvPr id="9" name="TextBox 8">
            <a:extLst>
              <a:ext uri="{FF2B5EF4-FFF2-40B4-BE49-F238E27FC236}">
                <a16:creationId xmlns:a16="http://schemas.microsoft.com/office/drawing/2014/main" id="{D718FB7E-483C-2F64-917A-E58DEC745EDB}"/>
              </a:ext>
            </a:extLst>
          </p:cNvPr>
          <p:cNvSpPr txBox="1"/>
          <p:nvPr/>
        </p:nvSpPr>
        <p:spPr>
          <a:xfrm>
            <a:off x="2821820" y="5866481"/>
            <a:ext cx="402674" cy="246221"/>
          </a:xfrm>
          <a:prstGeom prst="rect">
            <a:avLst/>
          </a:prstGeom>
          <a:solidFill>
            <a:schemeClr val="bg1"/>
          </a:solidFill>
        </p:spPr>
        <p:txBody>
          <a:bodyPr wrap="none" rtlCol="0">
            <a:spAutoFit/>
          </a:bodyPr>
          <a:lstStyle/>
          <a:p>
            <a:r>
              <a:rPr lang="en-US" sz="1000" b="1" dirty="0"/>
              <a:t>Cart</a:t>
            </a:r>
            <a:endParaRPr lang="en-US" sz="1100" b="1" dirty="0"/>
          </a:p>
        </p:txBody>
      </p:sp>
      <p:sp>
        <p:nvSpPr>
          <p:cNvPr id="10" name="Oval 9">
            <a:extLst>
              <a:ext uri="{FF2B5EF4-FFF2-40B4-BE49-F238E27FC236}">
                <a16:creationId xmlns:a16="http://schemas.microsoft.com/office/drawing/2014/main" id="{3BC0247E-1CD6-1852-0BD5-16A7D4A92C0E}"/>
              </a:ext>
            </a:extLst>
          </p:cNvPr>
          <p:cNvSpPr/>
          <p:nvPr/>
        </p:nvSpPr>
        <p:spPr>
          <a:xfrm>
            <a:off x="1366092" y="1056909"/>
            <a:ext cx="1030522" cy="1018765"/>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Help!</a:t>
            </a:r>
          </a:p>
          <a:p>
            <a:pPr algn="ctr"/>
            <a:r>
              <a:rPr lang="en-US" sz="1000" dirty="0"/>
              <a:t>I’m About To Go Off the Rails!!</a:t>
            </a:r>
          </a:p>
        </p:txBody>
      </p:sp>
      <p:sp>
        <p:nvSpPr>
          <p:cNvPr id="11" name="TextBox 10">
            <a:extLst>
              <a:ext uri="{FF2B5EF4-FFF2-40B4-BE49-F238E27FC236}">
                <a16:creationId xmlns:a16="http://schemas.microsoft.com/office/drawing/2014/main" id="{FCD1D5D7-7C65-5ECC-356E-7477E1D6C316}"/>
              </a:ext>
            </a:extLst>
          </p:cNvPr>
          <p:cNvSpPr txBox="1"/>
          <p:nvPr/>
        </p:nvSpPr>
        <p:spPr>
          <a:xfrm>
            <a:off x="1364703" y="3155135"/>
            <a:ext cx="2242922" cy="900246"/>
          </a:xfrm>
          <a:prstGeom prst="rect">
            <a:avLst/>
          </a:prstGeom>
          <a:noFill/>
        </p:spPr>
        <p:txBody>
          <a:bodyPr wrap="none" rtlCol="0">
            <a:spAutoFit/>
          </a:bodyPr>
          <a:lstStyle/>
          <a:p>
            <a:r>
              <a:rPr lang="en-US" sz="1050" b="1" dirty="0"/>
              <a:t>My goals: </a:t>
            </a:r>
            <a:r>
              <a:rPr lang="en-US" sz="500" b="1" dirty="0">
                <a:solidFill>
                  <a:schemeClr val="accent1">
                    <a:lumMod val="75000"/>
                  </a:schemeClr>
                </a:solidFill>
              </a:rPr>
              <a:t>(edit)</a:t>
            </a:r>
            <a:endParaRPr lang="en-US" sz="1050" b="1" dirty="0"/>
          </a:p>
          <a:p>
            <a:pPr marL="342900" indent="-342900">
              <a:buAutoNum type="arabicPeriod"/>
            </a:pPr>
            <a:r>
              <a:rPr lang="en-US" sz="1050" dirty="0"/>
              <a:t>Lose 22 pounds.</a:t>
            </a:r>
          </a:p>
          <a:p>
            <a:pPr marL="342900" indent="-342900">
              <a:buAutoNum type="arabicPeriod"/>
            </a:pPr>
            <a:r>
              <a:rPr lang="en-US" sz="1050" dirty="0"/>
              <a:t>Reduce body fat below 20%.</a:t>
            </a:r>
          </a:p>
          <a:p>
            <a:pPr marL="342900" indent="-342900">
              <a:buAutoNum type="arabicPeriod"/>
            </a:pPr>
            <a:r>
              <a:rPr lang="en-US" sz="1050" dirty="0"/>
              <a:t>Increase muscle mass by 10%+.</a:t>
            </a:r>
          </a:p>
          <a:p>
            <a:pPr marL="342900" indent="-342900">
              <a:buAutoNum type="arabicPeriod"/>
            </a:pPr>
            <a:r>
              <a:rPr lang="en-US" sz="1050" dirty="0"/>
              <a:t>Enjoy my diet and be social.</a:t>
            </a:r>
          </a:p>
        </p:txBody>
      </p:sp>
      <p:sp>
        <p:nvSpPr>
          <p:cNvPr id="12" name="TextBox 11">
            <a:extLst>
              <a:ext uri="{FF2B5EF4-FFF2-40B4-BE49-F238E27FC236}">
                <a16:creationId xmlns:a16="http://schemas.microsoft.com/office/drawing/2014/main" id="{1688A9F1-7BC1-F59B-75A8-4FB3FD8252EC}"/>
              </a:ext>
            </a:extLst>
          </p:cNvPr>
          <p:cNvSpPr txBox="1"/>
          <p:nvPr/>
        </p:nvSpPr>
        <p:spPr>
          <a:xfrm>
            <a:off x="1364703" y="4073013"/>
            <a:ext cx="2331456" cy="1061829"/>
          </a:xfrm>
          <a:prstGeom prst="rect">
            <a:avLst/>
          </a:prstGeom>
          <a:noFill/>
        </p:spPr>
        <p:txBody>
          <a:bodyPr wrap="square" rtlCol="0">
            <a:spAutoFit/>
          </a:bodyPr>
          <a:lstStyle/>
          <a:p>
            <a:r>
              <a:rPr lang="en-US" sz="1050" b="1" dirty="0"/>
              <a:t>Why I’ve failed in the past: </a:t>
            </a:r>
            <a:r>
              <a:rPr lang="en-US" sz="500" b="1" dirty="0">
                <a:solidFill>
                  <a:schemeClr val="accent1">
                    <a:lumMod val="75000"/>
                  </a:schemeClr>
                </a:solidFill>
              </a:rPr>
              <a:t>(edit)</a:t>
            </a:r>
            <a:endParaRPr lang="en-US" sz="1050" b="1" dirty="0"/>
          </a:p>
          <a:p>
            <a:pPr marL="342900" indent="-342900">
              <a:buAutoNum type="arabicPeriod"/>
            </a:pPr>
            <a:r>
              <a:rPr lang="en-US" sz="1050" dirty="0"/>
              <a:t>Didn’t ask for help.</a:t>
            </a:r>
          </a:p>
          <a:p>
            <a:pPr marL="342900" indent="-342900">
              <a:buAutoNum type="arabicPeriod"/>
            </a:pPr>
            <a:r>
              <a:rPr lang="en-US" sz="1050" dirty="0"/>
              <a:t>Didn’t have a plan.</a:t>
            </a:r>
          </a:p>
          <a:p>
            <a:pPr marL="342900" indent="-342900">
              <a:buAutoNum type="arabicPeriod"/>
            </a:pPr>
            <a:r>
              <a:rPr lang="en-US" sz="1050" dirty="0"/>
              <a:t>Didn’t know the consequences of what I was eating.</a:t>
            </a:r>
          </a:p>
          <a:p>
            <a:pPr marL="342900" indent="-342900">
              <a:buAutoNum type="arabicPeriod"/>
            </a:pPr>
            <a:r>
              <a:rPr lang="en-US" sz="1050" dirty="0"/>
              <a:t>Ice cream (every day, too much).</a:t>
            </a:r>
          </a:p>
        </p:txBody>
      </p:sp>
      <p:sp>
        <p:nvSpPr>
          <p:cNvPr id="13" name="TextBox 12">
            <a:extLst>
              <a:ext uri="{FF2B5EF4-FFF2-40B4-BE49-F238E27FC236}">
                <a16:creationId xmlns:a16="http://schemas.microsoft.com/office/drawing/2014/main" id="{0F1F2637-03F6-1A61-A90B-F6869BB7B2FA}"/>
              </a:ext>
            </a:extLst>
          </p:cNvPr>
          <p:cNvSpPr txBox="1"/>
          <p:nvPr/>
        </p:nvSpPr>
        <p:spPr>
          <a:xfrm>
            <a:off x="1364703" y="2075674"/>
            <a:ext cx="2252540" cy="1061829"/>
          </a:xfrm>
          <a:prstGeom prst="rect">
            <a:avLst/>
          </a:prstGeom>
          <a:noFill/>
        </p:spPr>
        <p:txBody>
          <a:bodyPr wrap="none" rtlCol="0">
            <a:spAutoFit/>
          </a:bodyPr>
          <a:lstStyle/>
          <a:p>
            <a:r>
              <a:rPr lang="en-US" sz="1050" b="1" dirty="0"/>
              <a:t>My daily tasks: </a:t>
            </a:r>
            <a:r>
              <a:rPr lang="en-US" sz="500" b="1" dirty="0">
                <a:solidFill>
                  <a:schemeClr val="accent1">
                    <a:lumMod val="75000"/>
                  </a:schemeClr>
                </a:solidFill>
              </a:rPr>
              <a:t>(edit)</a:t>
            </a:r>
            <a:endParaRPr lang="en-US" sz="1600" b="1" dirty="0"/>
          </a:p>
          <a:p>
            <a:pPr marL="342900" indent="-342900">
              <a:buAutoNum type="arabicPeriod"/>
            </a:pPr>
            <a:r>
              <a:rPr lang="en-US" sz="1050" dirty="0"/>
              <a:t>Move over 10,000 steps.</a:t>
            </a:r>
          </a:p>
          <a:p>
            <a:pPr marL="342900" indent="-342900">
              <a:buAutoNum type="arabicPeriod"/>
            </a:pPr>
            <a:r>
              <a:rPr lang="en-US" sz="1050" dirty="0"/>
              <a:t>Consume 180 grams of protein.</a:t>
            </a:r>
          </a:p>
          <a:p>
            <a:pPr marL="342900" indent="-342900">
              <a:buAutoNum type="arabicPeriod"/>
            </a:pPr>
            <a:r>
              <a:rPr lang="en-US" sz="1050" dirty="0"/>
              <a:t>Five servings of vegetables.</a:t>
            </a:r>
          </a:p>
          <a:p>
            <a:pPr marL="342900" indent="-342900">
              <a:buAutoNum type="arabicPeriod"/>
            </a:pPr>
            <a:r>
              <a:rPr lang="en-US" sz="1050" dirty="0"/>
              <a:t>Daily workout.</a:t>
            </a:r>
          </a:p>
          <a:p>
            <a:pPr marL="342900" indent="-342900">
              <a:buAutoNum type="arabicPeriod"/>
            </a:pPr>
            <a:r>
              <a:rPr lang="en-US" sz="1050" dirty="0"/>
              <a:t>No alcohol or sweets after 7.</a:t>
            </a:r>
          </a:p>
        </p:txBody>
      </p:sp>
      <p:sp>
        <p:nvSpPr>
          <p:cNvPr id="14" name="TextBox 13">
            <a:extLst>
              <a:ext uri="{FF2B5EF4-FFF2-40B4-BE49-F238E27FC236}">
                <a16:creationId xmlns:a16="http://schemas.microsoft.com/office/drawing/2014/main" id="{7A74AA91-4258-6B62-0481-24410233AE38}"/>
              </a:ext>
            </a:extLst>
          </p:cNvPr>
          <p:cNvSpPr txBox="1"/>
          <p:nvPr/>
        </p:nvSpPr>
        <p:spPr>
          <a:xfrm>
            <a:off x="1364703" y="5152473"/>
            <a:ext cx="2331456" cy="738664"/>
          </a:xfrm>
          <a:prstGeom prst="rect">
            <a:avLst/>
          </a:prstGeom>
          <a:noFill/>
        </p:spPr>
        <p:txBody>
          <a:bodyPr wrap="square" rtlCol="0">
            <a:spAutoFit/>
          </a:bodyPr>
          <a:lstStyle/>
          <a:p>
            <a:r>
              <a:rPr lang="en-US" sz="1050" b="1" dirty="0"/>
              <a:t>Better options: </a:t>
            </a:r>
            <a:r>
              <a:rPr lang="en-US" sz="500" b="1" dirty="0">
                <a:solidFill>
                  <a:schemeClr val="accent1">
                    <a:lumMod val="75000"/>
                  </a:schemeClr>
                </a:solidFill>
              </a:rPr>
              <a:t>(edit) </a:t>
            </a:r>
            <a:endParaRPr lang="en-US" sz="1050" b="1" dirty="0"/>
          </a:p>
          <a:p>
            <a:pPr marL="342900" indent="-342900">
              <a:buAutoNum type="arabicPeriod"/>
            </a:pPr>
            <a:r>
              <a:rPr lang="en-US" sz="1050" dirty="0"/>
              <a:t>Apple (add a little peanut butter)</a:t>
            </a:r>
          </a:p>
          <a:p>
            <a:pPr marL="342900" indent="-342900">
              <a:buAutoNum type="arabicPeriod"/>
            </a:pPr>
            <a:r>
              <a:rPr lang="en-US" sz="1050" dirty="0"/>
              <a:t>Ice cream (for lunch only).</a:t>
            </a:r>
          </a:p>
          <a:p>
            <a:pPr marL="342900" indent="-342900">
              <a:buAutoNum type="arabicPeriod"/>
            </a:pPr>
            <a:r>
              <a:rPr lang="en-US" sz="1050" dirty="0"/>
              <a:t>Protein shake with some berries.</a:t>
            </a:r>
          </a:p>
        </p:txBody>
      </p:sp>
      <p:sp>
        <p:nvSpPr>
          <p:cNvPr id="15" name="TextBox 14">
            <a:extLst>
              <a:ext uri="{FF2B5EF4-FFF2-40B4-BE49-F238E27FC236}">
                <a16:creationId xmlns:a16="http://schemas.microsoft.com/office/drawing/2014/main" id="{F13DE196-E828-C2E2-3246-EE48DC982AB1}"/>
              </a:ext>
            </a:extLst>
          </p:cNvPr>
          <p:cNvSpPr txBox="1"/>
          <p:nvPr/>
        </p:nvSpPr>
        <p:spPr>
          <a:xfrm>
            <a:off x="1618779" y="828339"/>
            <a:ext cx="1744388" cy="261610"/>
          </a:xfrm>
          <a:prstGeom prst="rect">
            <a:avLst/>
          </a:prstGeom>
          <a:noFill/>
        </p:spPr>
        <p:txBody>
          <a:bodyPr wrap="none" rtlCol="0">
            <a:spAutoFit/>
          </a:bodyPr>
          <a:lstStyle/>
          <a:p>
            <a:r>
              <a:rPr lang="en-US" sz="1100" dirty="0"/>
              <a:t>Push in case of emergency!</a:t>
            </a:r>
          </a:p>
        </p:txBody>
      </p:sp>
      <p:sp>
        <p:nvSpPr>
          <p:cNvPr id="16" name="Oval 15">
            <a:extLst>
              <a:ext uri="{FF2B5EF4-FFF2-40B4-BE49-F238E27FC236}">
                <a16:creationId xmlns:a16="http://schemas.microsoft.com/office/drawing/2014/main" id="{40AB1060-BC85-A579-35B2-ADEAE08214AC}"/>
              </a:ext>
            </a:extLst>
          </p:cNvPr>
          <p:cNvSpPr/>
          <p:nvPr/>
        </p:nvSpPr>
        <p:spPr>
          <a:xfrm>
            <a:off x="2483708" y="1082602"/>
            <a:ext cx="1030522" cy="993072"/>
          </a:xfrm>
          <a:prstGeom prst="ellipse">
            <a:avLst/>
          </a:prstGeom>
          <a:solidFill>
            <a:srgbClr val="F898E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p>
        </p:txBody>
      </p:sp>
      <p:sp>
        <p:nvSpPr>
          <p:cNvPr id="18" name="TextBox 17">
            <a:extLst>
              <a:ext uri="{FF2B5EF4-FFF2-40B4-BE49-F238E27FC236}">
                <a16:creationId xmlns:a16="http://schemas.microsoft.com/office/drawing/2014/main" id="{6B46EC8A-FC96-368A-EB6B-7621B83ADDEA}"/>
              </a:ext>
            </a:extLst>
          </p:cNvPr>
          <p:cNvSpPr txBox="1"/>
          <p:nvPr/>
        </p:nvSpPr>
        <p:spPr>
          <a:xfrm>
            <a:off x="2471021" y="1135405"/>
            <a:ext cx="1042049" cy="861774"/>
          </a:xfrm>
          <a:prstGeom prst="rect">
            <a:avLst/>
          </a:prstGeom>
          <a:noFill/>
        </p:spPr>
        <p:txBody>
          <a:bodyPr wrap="square">
            <a:spAutoFit/>
          </a:bodyPr>
          <a:lstStyle/>
          <a:p>
            <a:pPr algn="ctr"/>
            <a:r>
              <a:rPr lang="en-US" sz="1000" dirty="0"/>
              <a:t>Assistance Needed for Planned Diet “Event”.  Need suggestions.</a:t>
            </a:r>
          </a:p>
        </p:txBody>
      </p:sp>
      <p:sp>
        <p:nvSpPr>
          <p:cNvPr id="19" name="TextBox 18">
            <a:extLst>
              <a:ext uri="{FF2B5EF4-FFF2-40B4-BE49-F238E27FC236}">
                <a16:creationId xmlns:a16="http://schemas.microsoft.com/office/drawing/2014/main" id="{894372AF-1E0F-CD99-46BA-896262B1CFC0}"/>
              </a:ext>
            </a:extLst>
          </p:cNvPr>
          <p:cNvSpPr txBox="1"/>
          <p:nvPr/>
        </p:nvSpPr>
        <p:spPr>
          <a:xfrm>
            <a:off x="4099037" y="1363091"/>
            <a:ext cx="8004063" cy="5386090"/>
          </a:xfrm>
          <a:prstGeom prst="rect">
            <a:avLst/>
          </a:prstGeom>
          <a:noFill/>
        </p:spPr>
        <p:txBody>
          <a:bodyPr wrap="square" rtlCol="0">
            <a:spAutoFit/>
          </a:bodyPr>
          <a:lstStyle/>
          <a:p>
            <a:r>
              <a:rPr lang="en-US" sz="1600" dirty="0"/>
              <a:t>You have two Options:</a:t>
            </a:r>
          </a:p>
          <a:p>
            <a:pPr lvl="1"/>
            <a:r>
              <a:rPr lang="en-US" sz="1600" dirty="0"/>
              <a:t>1. Help! I’m About To Go Off the Rails.</a:t>
            </a:r>
          </a:p>
          <a:p>
            <a:pPr lvl="1"/>
            <a:r>
              <a:rPr lang="en-US" sz="1600" dirty="0"/>
              <a:t>2. Assistance Needed for Planned Diet “Event”.</a:t>
            </a:r>
          </a:p>
          <a:p>
            <a:pPr lvl="1"/>
            <a:endParaRPr lang="en-US" sz="1600" dirty="0"/>
          </a:p>
          <a:p>
            <a:r>
              <a:rPr lang="en-US" sz="1600" dirty="0"/>
              <a:t>This screen also reminds you of your goals and the things that you need to be thinking about on a daily basis.</a:t>
            </a:r>
          </a:p>
          <a:p>
            <a:endParaRPr lang="en-US" sz="1600" dirty="0"/>
          </a:p>
          <a:p>
            <a:r>
              <a:rPr lang="en-US" sz="1600" dirty="0"/>
              <a:t>Help! is an urgent, immediate plea for help.</a:t>
            </a:r>
          </a:p>
          <a:p>
            <a:pPr marL="457200"/>
            <a:r>
              <a:rPr lang="en-US" sz="1600" dirty="0"/>
              <a:t>- Several types of messaging / call support will be deployed immediately.</a:t>
            </a:r>
          </a:p>
          <a:p>
            <a:pPr marL="457200"/>
            <a:r>
              <a:rPr lang="en-US" sz="1600" dirty="0"/>
              <a:t>- Some of the options are pre-loaded, content only screens.</a:t>
            </a:r>
          </a:p>
          <a:p>
            <a:pPr marL="457200"/>
            <a:r>
              <a:rPr lang="en-US" sz="1600" dirty="0"/>
              <a:t>- Some of the options include a live call from a coach or accountability partner.</a:t>
            </a:r>
          </a:p>
          <a:p>
            <a:pPr marL="457200"/>
            <a:r>
              <a:rPr lang="en-US" sz="1600" dirty="0"/>
              <a:t>- Each dieter selects the types of motivators that are most likely to help avoid an immediate diet slip-up.	</a:t>
            </a:r>
          </a:p>
          <a:p>
            <a:endParaRPr lang="en-US" sz="1600" dirty="0"/>
          </a:p>
          <a:p>
            <a:r>
              <a:rPr lang="en-US" sz="1600" dirty="0"/>
              <a:t>Assistance Needed is a planned event that is coming up in the near term.</a:t>
            </a:r>
          </a:p>
          <a:p>
            <a:pPr marL="457200"/>
            <a:r>
              <a:rPr lang="en-US" sz="1600" dirty="0"/>
              <a:t>- We have more time for these issues.  We aren’t going to stop them.  But we do want to help a dieter make some smart choices that mitigate the negative impact.</a:t>
            </a:r>
          </a:p>
          <a:p>
            <a:pPr marL="457200"/>
            <a:endParaRPr lang="en-US" sz="1600" dirty="0"/>
          </a:p>
          <a:p>
            <a:r>
              <a:rPr lang="en-US" sz="1600" dirty="0"/>
              <a:t>Ultimately, we want to stop the issue from happening or help reduce the negative impact.  In either case, we want the dieter to put the issue behind them and get right back to their diet ASAP.  No downward spirals.</a:t>
            </a:r>
          </a:p>
        </p:txBody>
      </p:sp>
    </p:spTree>
    <p:extLst>
      <p:ext uri="{BB962C8B-B14F-4D97-AF65-F5344CB8AC3E}">
        <p14:creationId xmlns:p14="http://schemas.microsoft.com/office/powerpoint/2010/main" val="5321930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15B321-D022-0E6A-EC06-72134AE8EB44}"/>
              </a:ext>
            </a:extLst>
          </p:cNvPr>
          <p:cNvSpPr>
            <a:spLocks noGrp="1"/>
          </p:cNvSpPr>
          <p:nvPr>
            <p:ph type="title"/>
          </p:nvPr>
        </p:nvSpPr>
        <p:spPr>
          <a:xfrm>
            <a:off x="3966072" y="365125"/>
            <a:ext cx="7387728" cy="1325563"/>
          </a:xfrm>
        </p:spPr>
        <p:txBody>
          <a:bodyPr>
            <a:normAutofit fontScale="90000"/>
          </a:bodyPr>
          <a:lstStyle/>
          <a:p>
            <a:pPr algn="ctr"/>
            <a:r>
              <a:rPr lang="en-US" sz="4400" dirty="0"/>
              <a:t>Help! I’m About To Go Off the Rails</a:t>
            </a:r>
            <a:br>
              <a:rPr lang="en-US" dirty="0"/>
            </a:br>
            <a:r>
              <a:rPr lang="en-US" dirty="0"/>
              <a:t>Positive Reinforcement</a:t>
            </a:r>
          </a:p>
        </p:txBody>
      </p:sp>
      <p:pic>
        <p:nvPicPr>
          <p:cNvPr id="4" name="Picture 3">
            <a:extLst>
              <a:ext uri="{FF2B5EF4-FFF2-40B4-BE49-F238E27FC236}">
                <a16:creationId xmlns:a16="http://schemas.microsoft.com/office/drawing/2014/main" id="{AE75A5BD-3F7C-FFC7-9AEE-54A03FA66980}"/>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939113" y="534824"/>
            <a:ext cx="3089190" cy="5980352"/>
          </a:xfrm>
          <a:prstGeom prst="rect">
            <a:avLst/>
          </a:prstGeom>
        </p:spPr>
      </p:pic>
      <p:sp>
        <p:nvSpPr>
          <p:cNvPr id="5" name="TextBox 4">
            <a:extLst>
              <a:ext uri="{FF2B5EF4-FFF2-40B4-BE49-F238E27FC236}">
                <a16:creationId xmlns:a16="http://schemas.microsoft.com/office/drawing/2014/main" id="{4044BE36-C685-EA85-4EEB-E393285C5F2E}"/>
              </a:ext>
            </a:extLst>
          </p:cNvPr>
          <p:cNvSpPr txBox="1"/>
          <p:nvPr/>
        </p:nvSpPr>
        <p:spPr>
          <a:xfrm>
            <a:off x="1255924" y="5866481"/>
            <a:ext cx="616944" cy="246221"/>
          </a:xfrm>
          <a:prstGeom prst="rect">
            <a:avLst/>
          </a:prstGeom>
          <a:noFill/>
        </p:spPr>
        <p:txBody>
          <a:bodyPr wrap="square" rtlCol="0">
            <a:spAutoFit/>
          </a:bodyPr>
          <a:lstStyle/>
          <a:p>
            <a:r>
              <a:rPr lang="en-US" sz="1000" b="1" dirty="0"/>
              <a:t>Account</a:t>
            </a:r>
          </a:p>
        </p:txBody>
      </p:sp>
      <p:sp>
        <p:nvSpPr>
          <p:cNvPr id="6" name="TextBox 5">
            <a:extLst>
              <a:ext uri="{FF2B5EF4-FFF2-40B4-BE49-F238E27FC236}">
                <a16:creationId xmlns:a16="http://schemas.microsoft.com/office/drawing/2014/main" id="{049342E6-D81A-DE32-BB0C-79A61B8CE188}"/>
              </a:ext>
            </a:extLst>
          </p:cNvPr>
          <p:cNvSpPr txBox="1"/>
          <p:nvPr/>
        </p:nvSpPr>
        <p:spPr>
          <a:xfrm>
            <a:off x="1824021" y="5866481"/>
            <a:ext cx="590226" cy="246221"/>
          </a:xfrm>
          <a:prstGeom prst="rect">
            <a:avLst/>
          </a:prstGeom>
          <a:noFill/>
        </p:spPr>
        <p:txBody>
          <a:bodyPr wrap="none" rtlCol="0">
            <a:spAutoFit/>
          </a:bodyPr>
          <a:lstStyle/>
          <a:p>
            <a:r>
              <a:rPr lang="en-US" sz="1000" b="1" dirty="0"/>
              <a:t>Activity</a:t>
            </a:r>
            <a:endParaRPr lang="en-US" sz="1100" b="1" dirty="0"/>
          </a:p>
        </p:txBody>
      </p:sp>
      <p:sp>
        <p:nvSpPr>
          <p:cNvPr id="7" name="TextBox 6">
            <a:extLst>
              <a:ext uri="{FF2B5EF4-FFF2-40B4-BE49-F238E27FC236}">
                <a16:creationId xmlns:a16="http://schemas.microsoft.com/office/drawing/2014/main" id="{F2F3524D-88FC-8964-EA67-1F5274D516BA}"/>
              </a:ext>
            </a:extLst>
          </p:cNvPr>
          <p:cNvSpPr txBox="1"/>
          <p:nvPr/>
        </p:nvSpPr>
        <p:spPr>
          <a:xfrm>
            <a:off x="2347767" y="5866481"/>
            <a:ext cx="535724" cy="246221"/>
          </a:xfrm>
          <a:prstGeom prst="rect">
            <a:avLst/>
          </a:prstGeom>
          <a:noFill/>
        </p:spPr>
        <p:txBody>
          <a:bodyPr wrap="none" rtlCol="0">
            <a:spAutoFit/>
          </a:bodyPr>
          <a:lstStyle/>
          <a:p>
            <a:r>
              <a:rPr lang="en-US" sz="1000" b="1" dirty="0"/>
              <a:t>Profile</a:t>
            </a:r>
            <a:endParaRPr lang="en-US" sz="1100" b="1" dirty="0"/>
          </a:p>
        </p:txBody>
      </p:sp>
      <p:sp>
        <p:nvSpPr>
          <p:cNvPr id="8" name="TextBox 7">
            <a:extLst>
              <a:ext uri="{FF2B5EF4-FFF2-40B4-BE49-F238E27FC236}">
                <a16:creationId xmlns:a16="http://schemas.microsoft.com/office/drawing/2014/main" id="{4B5B8EA7-7DE0-ABF3-0272-487FB8578E45}"/>
              </a:ext>
            </a:extLst>
          </p:cNvPr>
          <p:cNvSpPr txBox="1"/>
          <p:nvPr/>
        </p:nvSpPr>
        <p:spPr>
          <a:xfrm>
            <a:off x="3175645" y="5866481"/>
            <a:ext cx="470000" cy="246221"/>
          </a:xfrm>
          <a:prstGeom prst="rect">
            <a:avLst/>
          </a:prstGeom>
          <a:solidFill>
            <a:schemeClr val="bg1"/>
          </a:solidFill>
        </p:spPr>
        <p:txBody>
          <a:bodyPr wrap="none" rtlCol="0">
            <a:spAutoFit/>
          </a:bodyPr>
          <a:lstStyle/>
          <a:p>
            <a:r>
              <a:rPr lang="en-US" sz="1000" b="1" dirty="0"/>
              <a:t>Panic</a:t>
            </a:r>
            <a:endParaRPr lang="en-US" sz="1100" b="1" dirty="0"/>
          </a:p>
        </p:txBody>
      </p:sp>
      <p:sp>
        <p:nvSpPr>
          <p:cNvPr id="9" name="TextBox 8">
            <a:extLst>
              <a:ext uri="{FF2B5EF4-FFF2-40B4-BE49-F238E27FC236}">
                <a16:creationId xmlns:a16="http://schemas.microsoft.com/office/drawing/2014/main" id="{D718FB7E-483C-2F64-917A-E58DEC745EDB}"/>
              </a:ext>
            </a:extLst>
          </p:cNvPr>
          <p:cNvSpPr txBox="1"/>
          <p:nvPr/>
        </p:nvSpPr>
        <p:spPr>
          <a:xfrm>
            <a:off x="2821820" y="5866481"/>
            <a:ext cx="402674" cy="246221"/>
          </a:xfrm>
          <a:prstGeom prst="rect">
            <a:avLst/>
          </a:prstGeom>
          <a:solidFill>
            <a:schemeClr val="bg1"/>
          </a:solidFill>
        </p:spPr>
        <p:txBody>
          <a:bodyPr wrap="none" rtlCol="0">
            <a:spAutoFit/>
          </a:bodyPr>
          <a:lstStyle/>
          <a:p>
            <a:r>
              <a:rPr lang="en-US" sz="1000" b="1" dirty="0"/>
              <a:t>Cart</a:t>
            </a:r>
            <a:endParaRPr lang="en-US" sz="1100" b="1" dirty="0"/>
          </a:p>
        </p:txBody>
      </p:sp>
      <p:pic>
        <p:nvPicPr>
          <p:cNvPr id="11" name="Picture 10" descr="A person wearing a red hat and smiling&#10;&#10;Description automatically generated">
            <a:extLst>
              <a:ext uri="{FF2B5EF4-FFF2-40B4-BE49-F238E27FC236}">
                <a16:creationId xmlns:a16="http://schemas.microsoft.com/office/drawing/2014/main" id="{0EBC6079-ECB8-F2C4-91D4-E975E9628F9E}"/>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rot="5400000">
            <a:off x="1087410" y="1562981"/>
            <a:ext cx="1645860" cy="1234395"/>
          </a:xfrm>
          <a:prstGeom prst="rect">
            <a:avLst/>
          </a:prstGeom>
        </p:spPr>
      </p:pic>
      <p:pic>
        <p:nvPicPr>
          <p:cNvPr id="13" name="Picture 12" descr="A person and person standing together&#10;&#10;Description automatically generated">
            <a:extLst>
              <a:ext uri="{FF2B5EF4-FFF2-40B4-BE49-F238E27FC236}">
                <a16:creationId xmlns:a16="http://schemas.microsoft.com/office/drawing/2014/main" id="{22E8B7DA-2951-0371-97D7-52DBDEEDA574}"/>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2564761" y="1350724"/>
            <a:ext cx="1075316" cy="4510244"/>
          </a:xfrm>
          <a:prstGeom prst="rect">
            <a:avLst/>
          </a:prstGeom>
        </p:spPr>
      </p:pic>
      <p:pic>
        <p:nvPicPr>
          <p:cNvPr id="15" name="Picture 14" descr="A person riding a bicycle&#10;&#10;Description automatically generated">
            <a:extLst>
              <a:ext uri="{FF2B5EF4-FFF2-40B4-BE49-F238E27FC236}">
                <a16:creationId xmlns:a16="http://schemas.microsoft.com/office/drawing/2014/main" id="{954B4CF8-A7CC-836C-72E9-C2A759D37E84}"/>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1293141" y="4047978"/>
            <a:ext cx="1224309" cy="1812990"/>
          </a:xfrm>
          <a:prstGeom prst="rect">
            <a:avLst/>
          </a:prstGeom>
        </p:spPr>
      </p:pic>
      <p:pic>
        <p:nvPicPr>
          <p:cNvPr id="17" name="Picture 16" descr="A person with no shirt&#10;&#10;Description automatically generated">
            <a:extLst>
              <a:ext uri="{FF2B5EF4-FFF2-40B4-BE49-F238E27FC236}">
                <a16:creationId xmlns:a16="http://schemas.microsoft.com/office/drawing/2014/main" id="{A01E5D50-946B-357D-09E0-901A949CF74C}"/>
              </a:ext>
            </a:extLst>
          </p:cNvPr>
          <p:cNvPicPr>
            <a:picLocks noChangeAspect="1"/>
          </p:cNvPicPr>
          <p:nvPr/>
        </p:nvPicPr>
        <p:blipFill rotWithShape="1">
          <a:blip r:embed="rId6" cstate="email">
            <a:extLst>
              <a:ext uri="{28A0092B-C50C-407E-A947-70E740481C1C}">
                <a14:useLocalDpi xmlns:a14="http://schemas.microsoft.com/office/drawing/2010/main"/>
              </a:ext>
            </a:extLst>
          </a:blip>
          <a:srcRect/>
          <a:stretch/>
        </p:blipFill>
        <p:spPr>
          <a:xfrm>
            <a:off x="1293141" y="3040953"/>
            <a:ext cx="1228237" cy="969181"/>
          </a:xfrm>
          <a:prstGeom prst="rect">
            <a:avLst/>
          </a:prstGeom>
        </p:spPr>
      </p:pic>
      <p:sp>
        <p:nvSpPr>
          <p:cNvPr id="19" name="Rounded Rectangle 18">
            <a:extLst>
              <a:ext uri="{FF2B5EF4-FFF2-40B4-BE49-F238E27FC236}">
                <a16:creationId xmlns:a16="http://schemas.microsoft.com/office/drawing/2014/main" id="{B4D84A8D-5501-9909-61C7-C5721302FFCC}"/>
              </a:ext>
            </a:extLst>
          </p:cNvPr>
          <p:cNvSpPr/>
          <p:nvPr/>
        </p:nvSpPr>
        <p:spPr>
          <a:xfrm>
            <a:off x="1477434" y="907437"/>
            <a:ext cx="2020424" cy="40544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t>You know what it takes. </a:t>
            </a:r>
          </a:p>
          <a:p>
            <a:pPr algn="ctr"/>
            <a:r>
              <a:rPr lang="en-US" sz="800" dirty="0"/>
              <a:t>You’ve put in the work before.</a:t>
            </a:r>
          </a:p>
          <a:p>
            <a:pPr algn="ctr"/>
            <a:r>
              <a:rPr lang="en-US" sz="800" dirty="0"/>
              <a:t>You feel so much better.</a:t>
            </a:r>
          </a:p>
        </p:txBody>
      </p:sp>
      <p:sp>
        <p:nvSpPr>
          <p:cNvPr id="20" name="TextBox 19">
            <a:extLst>
              <a:ext uri="{FF2B5EF4-FFF2-40B4-BE49-F238E27FC236}">
                <a16:creationId xmlns:a16="http://schemas.microsoft.com/office/drawing/2014/main" id="{373DC6C8-08DB-54C6-B6DB-7BBA6B01B277}"/>
              </a:ext>
            </a:extLst>
          </p:cNvPr>
          <p:cNvSpPr txBox="1"/>
          <p:nvPr/>
        </p:nvSpPr>
        <p:spPr>
          <a:xfrm>
            <a:off x="4047650" y="1690688"/>
            <a:ext cx="8004063" cy="3046988"/>
          </a:xfrm>
          <a:prstGeom prst="rect">
            <a:avLst/>
          </a:prstGeom>
          <a:noFill/>
        </p:spPr>
        <p:txBody>
          <a:bodyPr wrap="square" rtlCol="0">
            <a:spAutoFit/>
          </a:bodyPr>
          <a:lstStyle/>
          <a:p>
            <a:r>
              <a:rPr lang="en-US" sz="1600" dirty="0"/>
              <a:t>These are images that motivate you in a positive way.</a:t>
            </a:r>
          </a:p>
          <a:p>
            <a:endParaRPr lang="en-US" sz="1600" dirty="0"/>
          </a:p>
          <a:p>
            <a:r>
              <a:rPr lang="en-US" sz="1600" dirty="0"/>
              <a:t>Examples include:</a:t>
            </a:r>
          </a:p>
          <a:p>
            <a:r>
              <a:rPr lang="en-US" sz="1600" dirty="0"/>
              <a:t>- Time when you were the weight you want to achieve (self selected photos).</a:t>
            </a:r>
          </a:p>
          <a:p>
            <a:r>
              <a:rPr lang="en-US" sz="1600" dirty="0"/>
              <a:t>- Time when you accomplished something hard (self selected photos).</a:t>
            </a:r>
          </a:p>
          <a:p>
            <a:r>
              <a:rPr lang="en-US" sz="1600" dirty="0"/>
              <a:t>- Images provided by someone else (of you or someone you admire).</a:t>
            </a:r>
          </a:p>
          <a:p>
            <a:r>
              <a:rPr lang="en-US" sz="1600" dirty="0"/>
              <a:t>- Images provided by SOS system (i.e. AI generated).</a:t>
            </a:r>
          </a:p>
          <a:p>
            <a:pPr lvl="1"/>
            <a:endParaRPr lang="en-US" sz="1600" dirty="0"/>
          </a:p>
          <a:p>
            <a:r>
              <a:rPr lang="en-US" sz="1600" dirty="0"/>
              <a:t>SOS will provide easy way to submit and/or generate and size these photos for the screen.</a:t>
            </a:r>
          </a:p>
          <a:p>
            <a:endParaRPr lang="en-US" sz="1600" dirty="0"/>
          </a:p>
          <a:p>
            <a:r>
              <a:rPr lang="en-US" sz="1600" dirty="0"/>
              <a:t>You can submit up to 20 images that would rotate so that you don’t see same images all the time.</a:t>
            </a:r>
          </a:p>
        </p:txBody>
      </p:sp>
    </p:spTree>
    <p:extLst>
      <p:ext uri="{BB962C8B-B14F-4D97-AF65-F5344CB8AC3E}">
        <p14:creationId xmlns:p14="http://schemas.microsoft.com/office/powerpoint/2010/main" val="15543149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F4353BD-69A0-7103-54EE-8F7FEABB2A2B}"/>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939113" y="534824"/>
            <a:ext cx="3089190" cy="5980352"/>
          </a:xfrm>
          <a:prstGeom prst="rect">
            <a:avLst/>
          </a:prstGeom>
        </p:spPr>
      </p:pic>
      <p:sp>
        <p:nvSpPr>
          <p:cNvPr id="2" name="Title 1">
            <a:extLst>
              <a:ext uri="{FF2B5EF4-FFF2-40B4-BE49-F238E27FC236}">
                <a16:creationId xmlns:a16="http://schemas.microsoft.com/office/drawing/2014/main" id="{5359CF15-1AA1-44F8-53D7-2BF3C563A6B8}"/>
              </a:ext>
            </a:extLst>
          </p:cNvPr>
          <p:cNvSpPr>
            <a:spLocks noGrp="1"/>
          </p:cNvSpPr>
          <p:nvPr>
            <p:ph type="title"/>
          </p:nvPr>
        </p:nvSpPr>
        <p:spPr>
          <a:xfrm>
            <a:off x="4129216" y="365125"/>
            <a:ext cx="7681784" cy="1325563"/>
          </a:xfrm>
        </p:spPr>
        <p:txBody>
          <a:bodyPr>
            <a:normAutofit fontScale="90000"/>
          </a:bodyPr>
          <a:lstStyle/>
          <a:p>
            <a:pPr algn="ctr"/>
            <a:r>
              <a:rPr lang="en-US" sz="4400" dirty="0"/>
              <a:t>Help! I’m About To Go Off the Rails</a:t>
            </a:r>
            <a:br>
              <a:rPr lang="en-US" dirty="0"/>
            </a:br>
            <a:r>
              <a:rPr lang="en-US" dirty="0"/>
              <a:t>Negative Reinforcement</a:t>
            </a:r>
          </a:p>
        </p:txBody>
      </p:sp>
      <p:pic>
        <p:nvPicPr>
          <p:cNvPr id="11" name="Content Placeholder 10" descr="A person kneeling on grass&#10;&#10;Description automatically generated">
            <a:extLst>
              <a:ext uri="{FF2B5EF4-FFF2-40B4-BE49-F238E27FC236}">
                <a16:creationId xmlns:a16="http://schemas.microsoft.com/office/drawing/2014/main" id="{167BAB36-30D0-2DDE-3212-CC3064843ABF}"/>
              </a:ext>
            </a:extLst>
          </p:cNvPr>
          <p:cNvPicPr>
            <a:picLocks noGrp="1" noChangeAspect="1"/>
          </p:cNvPicPr>
          <p:nvPr>
            <p:ph idx="1"/>
          </p:nvPr>
        </p:nvPicPr>
        <p:blipFill rotWithShape="1">
          <a:blip r:embed="rId3" cstate="email">
            <a:extLst>
              <a:ext uri="{28A0092B-C50C-407E-A947-70E740481C1C}">
                <a14:useLocalDpi xmlns:a14="http://schemas.microsoft.com/office/drawing/2010/main"/>
              </a:ext>
            </a:extLst>
          </a:blip>
          <a:srcRect/>
          <a:stretch/>
        </p:blipFill>
        <p:spPr>
          <a:xfrm>
            <a:off x="1304969" y="3222640"/>
            <a:ext cx="1149660" cy="1401485"/>
          </a:xfrm>
        </p:spPr>
      </p:pic>
      <p:sp>
        <p:nvSpPr>
          <p:cNvPr id="5" name="TextBox 4">
            <a:extLst>
              <a:ext uri="{FF2B5EF4-FFF2-40B4-BE49-F238E27FC236}">
                <a16:creationId xmlns:a16="http://schemas.microsoft.com/office/drawing/2014/main" id="{BF85E5CE-1F4F-AF6A-3D49-16750CBFD745}"/>
              </a:ext>
            </a:extLst>
          </p:cNvPr>
          <p:cNvSpPr txBox="1"/>
          <p:nvPr/>
        </p:nvSpPr>
        <p:spPr>
          <a:xfrm>
            <a:off x="1255924" y="5866481"/>
            <a:ext cx="616944" cy="246221"/>
          </a:xfrm>
          <a:prstGeom prst="rect">
            <a:avLst/>
          </a:prstGeom>
          <a:noFill/>
        </p:spPr>
        <p:txBody>
          <a:bodyPr wrap="square" rtlCol="0">
            <a:spAutoFit/>
          </a:bodyPr>
          <a:lstStyle/>
          <a:p>
            <a:r>
              <a:rPr lang="en-US" sz="1000" b="1" dirty="0"/>
              <a:t>Account</a:t>
            </a:r>
          </a:p>
        </p:txBody>
      </p:sp>
      <p:sp>
        <p:nvSpPr>
          <p:cNvPr id="6" name="TextBox 5">
            <a:extLst>
              <a:ext uri="{FF2B5EF4-FFF2-40B4-BE49-F238E27FC236}">
                <a16:creationId xmlns:a16="http://schemas.microsoft.com/office/drawing/2014/main" id="{DCF935B0-EA21-F9F2-A54E-8653A8DDDD34}"/>
              </a:ext>
            </a:extLst>
          </p:cNvPr>
          <p:cNvSpPr txBox="1"/>
          <p:nvPr/>
        </p:nvSpPr>
        <p:spPr>
          <a:xfrm>
            <a:off x="1824021" y="5866481"/>
            <a:ext cx="590226" cy="246221"/>
          </a:xfrm>
          <a:prstGeom prst="rect">
            <a:avLst/>
          </a:prstGeom>
          <a:noFill/>
        </p:spPr>
        <p:txBody>
          <a:bodyPr wrap="none" rtlCol="0">
            <a:spAutoFit/>
          </a:bodyPr>
          <a:lstStyle/>
          <a:p>
            <a:r>
              <a:rPr lang="en-US" sz="1000" b="1" dirty="0"/>
              <a:t>Activity</a:t>
            </a:r>
            <a:endParaRPr lang="en-US" sz="1100" b="1" dirty="0"/>
          </a:p>
        </p:txBody>
      </p:sp>
      <p:sp>
        <p:nvSpPr>
          <p:cNvPr id="7" name="TextBox 6">
            <a:extLst>
              <a:ext uri="{FF2B5EF4-FFF2-40B4-BE49-F238E27FC236}">
                <a16:creationId xmlns:a16="http://schemas.microsoft.com/office/drawing/2014/main" id="{EA044441-69AD-3E99-13A0-0103AF294EE8}"/>
              </a:ext>
            </a:extLst>
          </p:cNvPr>
          <p:cNvSpPr txBox="1"/>
          <p:nvPr/>
        </p:nvSpPr>
        <p:spPr>
          <a:xfrm>
            <a:off x="2347767" y="5866481"/>
            <a:ext cx="535724" cy="246221"/>
          </a:xfrm>
          <a:prstGeom prst="rect">
            <a:avLst/>
          </a:prstGeom>
          <a:noFill/>
        </p:spPr>
        <p:txBody>
          <a:bodyPr wrap="none" rtlCol="0">
            <a:spAutoFit/>
          </a:bodyPr>
          <a:lstStyle/>
          <a:p>
            <a:r>
              <a:rPr lang="en-US" sz="1000" b="1" dirty="0"/>
              <a:t>Profile</a:t>
            </a:r>
            <a:endParaRPr lang="en-US" sz="1100" b="1" dirty="0"/>
          </a:p>
        </p:txBody>
      </p:sp>
      <p:sp>
        <p:nvSpPr>
          <p:cNvPr id="8" name="TextBox 7">
            <a:extLst>
              <a:ext uri="{FF2B5EF4-FFF2-40B4-BE49-F238E27FC236}">
                <a16:creationId xmlns:a16="http://schemas.microsoft.com/office/drawing/2014/main" id="{A10D2941-94A7-8101-B7FF-A344B220D9D5}"/>
              </a:ext>
            </a:extLst>
          </p:cNvPr>
          <p:cNvSpPr txBox="1"/>
          <p:nvPr/>
        </p:nvSpPr>
        <p:spPr>
          <a:xfrm>
            <a:off x="3175645" y="5866481"/>
            <a:ext cx="470000" cy="246221"/>
          </a:xfrm>
          <a:prstGeom prst="rect">
            <a:avLst/>
          </a:prstGeom>
          <a:solidFill>
            <a:schemeClr val="bg1"/>
          </a:solidFill>
        </p:spPr>
        <p:txBody>
          <a:bodyPr wrap="none" rtlCol="0">
            <a:spAutoFit/>
          </a:bodyPr>
          <a:lstStyle/>
          <a:p>
            <a:r>
              <a:rPr lang="en-US" sz="1000" b="1" dirty="0"/>
              <a:t>Panic</a:t>
            </a:r>
            <a:endParaRPr lang="en-US" sz="1100" b="1" dirty="0"/>
          </a:p>
        </p:txBody>
      </p:sp>
      <p:sp>
        <p:nvSpPr>
          <p:cNvPr id="9" name="TextBox 8">
            <a:extLst>
              <a:ext uri="{FF2B5EF4-FFF2-40B4-BE49-F238E27FC236}">
                <a16:creationId xmlns:a16="http://schemas.microsoft.com/office/drawing/2014/main" id="{3C51E136-CB6E-4420-A95A-00179483A513}"/>
              </a:ext>
            </a:extLst>
          </p:cNvPr>
          <p:cNvSpPr txBox="1"/>
          <p:nvPr/>
        </p:nvSpPr>
        <p:spPr>
          <a:xfrm>
            <a:off x="2821820" y="5866481"/>
            <a:ext cx="402674" cy="246221"/>
          </a:xfrm>
          <a:prstGeom prst="rect">
            <a:avLst/>
          </a:prstGeom>
          <a:solidFill>
            <a:schemeClr val="bg1"/>
          </a:solidFill>
        </p:spPr>
        <p:txBody>
          <a:bodyPr wrap="none" rtlCol="0">
            <a:spAutoFit/>
          </a:bodyPr>
          <a:lstStyle/>
          <a:p>
            <a:r>
              <a:rPr lang="en-US" sz="1000" b="1" dirty="0"/>
              <a:t>Cart</a:t>
            </a:r>
            <a:endParaRPr lang="en-US" sz="1100" b="1" dirty="0"/>
          </a:p>
        </p:txBody>
      </p:sp>
      <p:pic>
        <p:nvPicPr>
          <p:cNvPr id="13" name="Picture 12" descr="A person and two children walking on a path&#10;&#10;Description automatically generated">
            <a:extLst>
              <a:ext uri="{FF2B5EF4-FFF2-40B4-BE49-F238E27FC236}">
                <a16:creationId xmlns:a16="http://schemas.microsoft.com/office/drawing/2014/main" id="{81FD483E-CD69-C48D-7BDF-948AC4A21858}"/>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291107" y="4674282"/>
            <a:ext cx="1163522" cy="1020849"/>
          </a:xfrm>
          <a:prstGeom prst="rect">
            <a:avLst/>
          </a:prstGeom>
        </p:spPr>
      </p:pic>
      <p:pic>
        <p:nvPicPr>
          <p:cNvPr id="15" name="Picture 14" descr="A person standing in a room&#10;&#10;Description automatically generated">
            <a:extLst>
              <a:ext uri="{FF2B5EF4-FFF2-40B4-BE49-F238E27FC236}">
                <a16:creationId xmlns:a16="http://schemas.microsoft.com/office/drawing/2014/main" id="{D04F8C75-3B3C-F830-A69D-29AE84DF3E17}"/>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rot="5400000">
            <a:off x="1580302" y="2606429"/>
            <a:ext cx="2947900" cy="1027298"/>
          </a:xfrm>
          <a:prstGeom prst="rect">
            <a:avLst/>
          </a:prstGeom>
        </p:spPr>
      </p:pic>
      <p:pic>
        <p:nvPicPr>
          <p:cNvPr id="17" name="Picture 16" descr="A person sleeping on a couch&#10;&#10;Description automatically generated">
            <a:extLst>
              <a:ext uri="{FF2B5EF4-FFF2-40B4-BE49-F238E27FC236}">
                <a16:creationId xmlns:a16="http://schemas.microsoft.com/office/drawing/2014/main" id="{2184E281-4DE9-674F-444B-F4EDB3D3EC6F}"/>
              </a:ext>
            </a:extLst>
          </p:cNvPr>
          <p:cNvPicPr>
            <a:picLocks noChangeAspect="1"/>
          </p:cNvPicPr>
          <p:nvPr/>
        </p:nvPicPr>
        <p:blipFill rotWithShape="1">
          <a:blip r:embed="rId6" cstate="email">
            <a:extLst>
              <a:ext uri="{28A0092B-C50C-407E-A947-70E740481C1C}">
                <a14:useLocalDpi xmlns:a14="http://schemas.microsoft.com/office/drawing/2010/main"/>
              </a:ext>
            </a:extLst>
          </a:blip>
          <a:srcRect/>
          <a:stretch/>
        </p:blipFill>
        <p:spPr>
          <a:xfrm rot="5400000">
            <a:off x="2468447" y="4712805"/>
            <a:ext cx="1088116" cy="943805"/>
          </a:xfrm>
          <a:prstGeom prst="rect">
            <a:avLst/>
          </a:prstGeom>
        </p:spPr>
      </p:pic>
      <p:pic>
        <p:nvPicPr>
          <p:cNvPr id="19" name="Picture 18" descr="A person lying on a couch&#10;&#10;Description automatically generated">
            <a:extLst>
              <a:ext uri="{FF2B5EF4-FFF2-40B4-BE49-F238E27FC236}">
                <a16:creationId xmlns:a16="http://schemas.microsoft.com/office/drawing/2014/main" id="{0EFD247B-0FD6-5312-F8C5-23E9D3A3BC41}"/>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rot="5400000">
            <a:off x="1102331" y="1842075"/>
            <a:ext cx="1510201" cy="1132650"/>
          </a:xfrm>
          <a:prstGeom prst="rect">
            <a:avLst/>
          </a:prstGeom>
        </p:spPr>
      </p:pic>
      <p:sp>
        <p:nvSpPr>
          <p:cNvPr id="22" name="Rounded Rectangle 21">
            <a:extLst>
              <a:ext uri="{FF2B5EF4-FFF2-40B4-BE49-F238E27FC236}">
                <a16:creationId xmlns:a16="http://schemas.microsoft.com/office/drawing/2014/main" id="{B07138DE-854C-5475-D51A-E851AB17F1C6}"/>
              </a:ext>
            </a:extLst>
          </p:cNvPr>
          <p:cNvSpPr/>
          <p:nvPr/>
        </p:nvSpPr>
        <p:spPr>
          <a:xfrm>
            <a:off x="1477434" y="963569"/>
            <a:ext cx="2006974" cy="57451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p>
          <a:p>
            <a:pPr algn="ctr"/>
            <a:r>
              <a:rPr lang="en-US" sz="800" dirty="0"/>
              <a:t>Heartburn sucks. </a:t>
            </a:r>
          </a:p>
          <a:p>
            <a:pPr algn="ctr"/>
            <a:r>
              <a:rPr lang="en-US" sz="800" dirty="0"/>
              <a:t>You can’t run when you are fat.</a:t>
            </a:r>
          </a:p>
          <a:p>
            <a:pPr algn="ctr"/>
            <a:r>
              <a:rPr lang="en-US" sz="800" dirty="0"/>
              <a:t>Your clothes don’t fit.</a:t>
            </a:r>
          </a:p>
          <a:p>
            <a:pPr algn="ctr"/>
            <a:r>
              <a:rPr lang="en-US" sz="800" dirty="0"/>
              <a:t>Nice double chin</a:t>
            </a:r>
          </a:p>
          <a:p>
            <a:pPr algn="ctr"/>
            <a:endParaRPr lang="en-US" sz="800" dirty="0"/>
          </a:p>
        </p:txBody>
      </p:sp>
      <p:sp>
        <p:nvSpPr>
          <p:cNvPr id="23" name="TextBox 22">
            <a:extLst>
              <a:ext uri="{FF2B5EF4-FFF2-40B4-BE49-F238E27FC236}">
                <a16:creationId xmlns:a16="http://schemas.microsoft.com/office/drawing/2014/main" id="{782C729F-5226-C29A-45D5-0AC088BFD817}"/>
              </a:ext>
            </a:extLst>
          </p:cNvPr>
          <p:cNvSpPr txBox="1"/>
          <p:nvPr/>
        </p:nvSpPr>
        <p:spPr>
          <a:xfrm>
            <a:off x="4047650" y="1690688"/>
            <a:ext cx="8004063" cy="3293209"/>
          </a:xfrm>
          <a:prstGeom prst="rect">
            <a:avLst/>
          </a:prstGeom>
          <a:noFill/>
        </p:spPr>
        <p:txBody>
          <a:bodyPr wrap="square" rtlCol="0">
            <a:spAutoFit/>
          </a:bodyPr>
          <a:lstStyle/>
          <a:p>
            <a:r>
              <a:rPr lang="en-US" sz="1600" dirty="0"/>
              <a:t>These are images that motivate you by showing you things you want to avoid.</a:t>
            </a:r>
          </a:p>
          <a:p>
            <a:endParaRPr lang="en-US" sz="1600" dirty="0"/>
          </a:p>
          <a:p>
            <a:r>
              <a:rPr lang="en-US" sz="1600" dirty="0"/>
              <a:t>Examples include:</a:t>
            </a:r>
          </a:p>
          <a:p>
            <a:r>
              <a:rPr lang="en-US" sz="1600" dirty="0"/>
              <a:t>- Time when you looked your worst (self selected photos).</a:t>
            </a:r>
          </a:p>
          <a:p>
            <a:r>
              <a:rPr lang="en-US" sz="1600" dirty="0"/>
              <a:t>- Time when you weighed more than your goal weight (self selected photos).</a:t>
            </a:r>
          </a:p>
          <a:p>
            <a:r>
              <a:rPr lang="en-US" sz="1600" dirty="0"/>
              <a:t>- Images of people you care about that couldn’t do things because of their weight (i.e. father that couldn’t walk with his grandkids without a cane) </a:t>
            </a:r>
          </a:p>
          <a:p>
            <a:r>
              <a:rPr lang="en-US" sz="1600" dirty="0"/>
              <a:t>- Images provided by SOS system (i.e. AI generated).</a:t>
            </a:r>
          </a:p>
          <a:p>
            <a:pPr lvl="1"/>
            <a:endParaRPr lang="en-US" sz="1600" dirty="0"/>
          </a:p>
          <a:p>
            <a:r>
              <a:rPr lang="en-US" sz="1600" dirty="0"/>
              <a:t>SOS will provide easy way to submit and/or generate and size these photos for the screen.</a:t>
            </a:r>
          </a:p>
          <a:p>
            <a:endParaRPr lang="en-US" sz="1600" dirty="0"/>
          </a:p>
          <a:p>
            <a:r>
              <a:rPr lang="en-US" sz="1600" dirty="0"/>
              <a:t>You can submit up to 20 images that would rotate so that you don’t see same images all the time.</a:t>
            </a:r>
          </a:p>
        </p:txBody>
      </p:sp>
    </p:spTree>
    <p:extLst>
      <p:ext uri="{BB962C8B-B14F-4D97-AF65-F5344CB8AC3E}">
        <p14:creationId xmlns:p14="http://schemas.microsoft.com/office/powerpoint/2010/main" val="4654033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F0750-3E2B-8102-6540-DF0C3CA8D2A1}"/>
              </a:ext>
            </a:extLst>
          </p:cNvPr>
          <p:cNvSpPr>
            <a:spLocks noGrp="1"/>
          </p:cNvSpPr>
          <p:nvPr>
            <p:ph type="title"/>
          </p:nvPr>
        </p:nvSpPr>
        <p:spPr>
          <a:xfrm>
            <a:off x="4329628" y="365125"/>
            <a:ext cx="7455972" cy="1325563"/>
          </a:xfrm>
        </p:spPr>
        <p:txBody>
          <a:bodyPr>
            <a:normAutofit fontScale="90000"/>
          </a:bodyPr>
          <a:lstStyle/>
          <a:p>
            <a:pPr algn="ctr"/>
            <a:r>
              <a:rPr lang="en-US" sz="4400" dirty="0"/>
              <a:t>Help! I’m About To Go Off the Rails</a:t>
            </a:r>
            <a:br>
              <a:rPr lang="en-US" dirty="0"/>
            </a:br>
            <a:r>
              <a:rPr lang="en-US" dirty="0"/>
              <a:t>Statistical Reinforcement</a:t>
            </a:r>
          </a:p>
        </p:txBody>
      </p:sp>
      <p:pic>
        <p:nvPicPr>
          <p:cNvPr id="4" name="Picture 3">
            <a:extLst>
              <a:ext uri="{FF2B5EF4-FFF2-40B4-BE49-F238E27FC236}">
                <a16:creationId xmlns:a16="http://schemas.microsoft.com/office/drawing/2014/main" id="{CE9C8FA5-A7AB-BA45-D072-E1F4E06DF471}"/>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939113" y="534824"/>
            <a:ext cx="3089190" cy="5980352"/>
          </a:xfrm>
          <a:prstGeom prst="rect">
            <a:avLst/>
          </a:prstGeom>
        </p:spPr>
      </p:pic>
      <p:sp>
        <p:nvSpPr>
          <p:cNvPr id="5" name="TextBox 4">
            <a:extLst>
              <a:ext uri="{FF2B5EF4-FFF2-40B4-BE49-F238E27FC236}">
                <a16:creationId xmlns:a16="http://schemas.microsoft.com/office/drawing/2014/main" id="{99FE8747-A9BC-16EA-DA3D-9790655069CC}"/>
              </a:ext>
            </a:extLst>
          </p:cNvPr>
          <p:cNvSpPr txBox="1"/>
          <p:nvPr/>
        </p:nvSpPr>
        <p:spPr>
          <a:xfrm>
            <a:off x="1255924" y="5866481"/>
            <a:ext cx="616944" cy="246221"/>
          </a:xfrm>
          <a:prstGeom prst="rect">
            <a:avLst/>
          </a:prstGeom>
          <a:noFill/>
        </p:spPr>
        <p:txBody>
          <a:bodyPr wrap="square" rtlCol="0">
            <a:spAutoFit/>
          </a:bodyPr>
          <a:lstStyle/>
          <a:p>
            <a:r>
              <a:rPr lang="en-US" sz="1000" b="1" dirty="0"/>
              <a:t>Account</a:t>
            </a:r>
          </a:p>
        </p:txBody>
      </p:sp>
      <p:sp>
        <p:nvSpPr>
          <p:cNvPr id="6" name="TextBox 5">
            <a:extLst>
              <a:ext uri="{FF2B5EF4-FFF2-40B4-BE49-F238E27FC236}">
                <a16:creationId xmlns:a16="http://schemas.microsoft.com/office/drawing/2014/main" id="{6DF28A85-C128-829C-8384-042787188C76}"/>
              </a:ext>
            </a:extLst>
          </p:cNvPr>
          <p:cNvSpPr txBox="1"/>
          <p:nvPr/>
        </p:nvSpPr>
        <p:spPr>
          <a:xfrm>
            <a:off x="1824021" y="5866481"/>
            <a:ext cx="590226" cy="246221"/>
          </a:xfrm>
          <a:prstGeom prst="rect">
            <a:avLst/>
          </a:prstGeom>
          <a:noFill/>
        </p:spPr>
        <p:txBody>
          <a:bodyPr wrap="none" rtlCol="0">
            <a:spAutoFit/>
          </a:bodyPr>
          <a:lstStyle/>
          <a:p>
            <a:r>
              <a:rPr lang="en-US" sz="1000" b="1" dirty="0"/>
              <a:t>Activity</a:t>
            </a:r>
            <a:endParaRPr lang="en-US" sz="1100" b="1" dirty="0"/>
          </a:p>
        </p:txBody>
      </p:sp>
      <p:sp>
        <p:nvSpPr>
          <p:cNvPr id="7" name="TextBox 6">
            <a:extLst>
              <a:ext uri="{FF2B5EF4-FFF2-40B4-BE49-F238E27FC236}">
                <a16:creationId xmlns:a16="http://schemas.microsoft.com/office/drawing/2014/main" id="{23E6F43F-E9CB-4AF8-45DE-FF8CC8BAAD63}"/>
              </a:ext>
            </a:extLst>
          </p:cNvPr>
          <p:cNvSpPr txBox="1"/>
          <p:nvPr/>
        </p:nvSpPr>
        <p:spPr>
          <a:xfrm>
            <a:off x="2347767" y="5866481"/>
            <a:ext cx="535724" cy="246221"/>
          </a:xfrm>
          <a:prstGeom prst="rect">
            <a:avLst/>
          </a:prstGeom>
          <a:noFill/>
        </p:spPr>
        <p:txBody>
          <a:bodyPr wrap="none" rtlCol="0">
            <a:spAutoFit/>
          </a:bodyPr>
          <a:lstStyle/>
          <a:p>
            <a:r>
              <a:rPr lang="en-US" sz="1000" b="1" dirty="0"/>
              <a:t>Profile</a:t>
            </a:r>
            <a:endParaRPr lang="en-US" sz="1100" b="1" dirty="0"/>
          </a:p>
        </p:txBody>
      </p:sp>
      <p:sp>
        <p:nvSpPr>
          <p:cNvPr id="8" name="TextBox 7">
            <a:extLst>
              <a:ext uri="{FF2B5EF4-FFF2-40B4-BE49-F238E27FC236}">
                <a16:creationId xmlns:a16="http://schemas.microsoft.com/office/drawing/2014/main" id="{82526759-A32A-FB6E-8F6B-62CC41FF5D09}"/>
              </a:ext>
            </a:extLst>
          </p:cNvPr>
          <p:cNvSpPr txBox="1"/>
          <p:nvPr/>
        </p:nvSpPr>
        <p:spPr>
          <a:xfrm>
            <a:off x="3175645" y="5866481"/>
            <a:ext cx="470000" cy="246221"/>
          </a:xfrm>
          <a:prstGeom prst="rect">
            <a:avLst/>
          </a:prstGeom>
          <a:solidFill>
            <a:schemeClr val="bg1"/>
          </a:solidFill>
        </p:spPr>
        <p:txBody>
          <a:bodyPr wrap="none" rtlCol="0">
            <a:spAutoFit/>
          </a:bodyPr>
          <a:lstStyle/>
          <a:p>
            <a:r>
              <a:rPr lang="en-US" sz="1000" b="1" dirty="0"/>
              <a:t>Panic</a:t>
            </a:r>
            <a:endParaRPr lang="en-US" sz="1100" b="1" dirty="0"/>
          </a:p>
        </p:txBody>
      </p:sp>
      <p:sp>
        <p:nvSpPr>
          <p:cNvPr id="9" name="TextBox 8">
            <a:extLst>
              <a:ext uri="{FF2B5EF4-FFF2-40B4-BE49-F238E27FC236}">
                <a16:creationId xmlns:a16="http://schemas.microsoft.com/office/drawing/2014/main" id="{60534560-0477-6B24-AE04-FA2DB5256A62}"/>
              </a:ext>
            </a:extLst>
          </p:cNvPr>
          <p:cNvSpPr txBox="1"/>
          <p:nvPr/>
        </p:nvSpPr>
        <p:spPr>
          <a:xfrm>
            <a:off x="2821820" y="5866481"/>
            <a:ext cx="402674" cy="246221"/>
          </a:xfrm>
          <a:prstGeom prst="rect">
            <a:avLst/>
          </a:prstGeom>
          <a:solidFill>
            <a:schemeClr val="bg1"/>
          </a:solidFill>
        </p:spPr>
        <p:txBody>
          <a:bodyPr wrap="none" rtlCol="0">
            <a:spAutoFit/>
          </a:bodyPr>
          <a:lstStyle/>
          <a:p>
            <a:r>
              <a:rPr lang="en-US" sz="1000" b="1" dirty="0"/>
              <a:t>Cart</a:t>
            </a:r>
            <a:endParaRPr lang="en-US" sz="1100" b="1" dirty="0"/>
          </a:p>
        </p:txBody>
      </p:sp>
      <p:sp>
        <p:nvSpPr>
          <p:cNvPr id="11" name="TextBox 10">
            <a:extLst>
              <a:ext uri="{FF2B5EF4-FFF2-40B4-BE49-F238E27FC236}">
                <a16:creationId xmlns:a16="http://schemas.microsoft.com/office/drawing/2014/main" id="{FCD94750-145C-2CB3-7610-DCC7572BB972}"/>
              </a:ext>
            </a:extLst>
          </p:cNvPr>
          <p:cNvSpPr txBox="1"/>
          <p:nvPr/>
        </p:nvSpPr>
        <p:spPr>
          <a:xfrm>
            <a:off x="1249376" y="3421975"/>
            <a:ext cx="2434727" cy="600164"/>
          </a:xfrm>
          <a:prstGeom prst="rect">
            <a:avLst/>
          </a:prstGeom>
          <a:noFill/>
        </p:spPr>
        <p:txBody>
          <a:bodyPr wrap="square">
            <a:spAutoFit/>
          </a:bodyPr>
          <a:lstStyle/>
          <a:p>
            <a:r>
              <a:rPr lang="en-US" sz="1100" b="0" i="0" u="none" strike="noStrike" dirty="0">
                <a:solidFill>
                  <a:srgbClr val="443D3F"/>
                </a:solidFill>
                <a:effectLst/>
                <a:latin typeface="Nunito Sans" panose="020F0502020204030204" pitchFamily="34" charset="0"/>
              </a:rPr>
              <a:t>Your risk for </a:t>
            </a:r>
            <a:r>
              <a:rPr lang="en-US" sz="1100" b="0" i="0" u="none" strike="noStrike" dirty="0">
                <a:solidFill>
                  <a:srgbClr val="29A2EC"/>
                </a:solidFill>
                <a:effectLst/>
                <a:latin typeface="Nunito Sans" panose="020F0502020204030204" pitchFamily="34" charset="0"/>
                <a:hlinkClick r:id="rId3" tooltip="coronary heart disease"/>
              </a:rPr>
              <a:t>coronary heart disease</a:t>
            </a:r>
            <a:r>
              <a:rPr lang="en-US" sz="1100" b="0" i="0" u="none" strike="noStrike" dirty="0">
                <a:solidFill>
                  <a:srgbClr val="443D3F"/>
                </a:solidFill>
                <a:effectLst/>
                <a:latin typeface="Nunito Sans" panose="020F0502020204030204" pitchFamily="34" charset="0"/>
              </a:rPr>
              <a:t> rises as your body mass index (BMI) increases.</a:t>
            </a:r>
            <a:endParaRPr lang="en-US" sz="1100" dirty="0"/>
          </a:p>
        </p:txBody>
      </p:sp>
      <p:sp>
        <p:nvSpPr>
          <p:cNvPr id="13" name="TextBox 12">
            <a:extLst>
              <a:ext uri="{FF2B5EF4-FFF2-40B4-BE49-F238E27FC236}">
                <a16:creationId xmlns:a16="http://schemas.microsoft.com/office/drawing/2014/main" id="{62F556F9-084C-8552-999F-278B2C47D707}"/>
              </a:ext>
            </a:extLst>
          </p:cNvPr>
          <p:cNvSpPr txBox="1"/>
          <p:nvPr/>
        </p:nvSpPr>
        <p:spPr>
          <a:xfrm>
            <a:off x="1249376" y="1696951"/>
            <a:ext cx="2441276" cy="769441"/>
          </a:xfrm>
          <a:prstGeom prst="rect">
            <a:avLst/>
          </a:prstGeom>
          <a:noFill/>
        </p:spPr>
        <p:txBody>
          <a:bodyPr wrap="square">
            <a:spAutoFit/>
          </a:bodyPr>
          <a:lstStyle/>
          <a:p>
            <a:r>
              <a:rPr lang="en-US" sz="1100" b="0" i="0" u="none" strike="noStrike" dirty="0">
                <a:solidFill>
                  <a:srgbClr val="443D3F"/>
                </a:solidFill>
                <a:effectLst/>
                <a:latin typeface="Avenir Next" panose="020B0503020202020204" pitchFamily="34" charset="0"/>
              </a:rPr>
              <a:t>Excess weight raises levels of blood fats — cholesterol and triglycerides — increasing the risk of coronary heart disease. </a:t>
            </a:r>
            <a:endParaRPr lang="en-US" sz="1100" dirty="0">
              <a:latin typeface="Avenir Next" panose="020B0503020202020204" pitchFamily="34" charset="0"/>
            </a:endParaRPr>
          </a:p>
        </p:txBody>
      </p:sp>
      <p:sp>
        <p:nvSpPr>
          <p:cNvPr id="15" name="TextBox 14">
            <a:extLst>
              <a:ext uri="{FF2B5EF4-FFF2-40B4-BE49-F238E27FC236}">
                <a16:creationId xmlns:a16="http://schemas.microsoft.com/office/drawing/2014/main" id="{1F7D8CD7-04CB-D9CB-FD89-594DE1A29E78}"/>
              </a:ext>
            </a:extLst>
          </p:cNvPr>
          <p:cNvSpPr txBox="1"/>
          <p:nvPr/>
        </p:nvSpPr>
        <p:spPr>
          <a:xfrm>
            <a:off x="1249376" y="2474824"/>
            <a:ext cx="2434727" cy="938719"/>
          </a:xfrm>
          <a:prstGeom prst="rect">
            <a:avLst/>
          </a:prstGeom>
          <a:noFill/>
        </p:spPr>
        <p:txBody>
          <a:bodyPr wrap="square">
            <a:spAutoFit/>
          </a:bodyPr>
          <a:lstStyle/>
          <a:p>
            <a:r>
              <a:rPr lang="en-US" sz="1100" u="none" strike="noStrike" dirty="0">
                <a:solidFill>
                  <a:srgbClr val="443D3F"/>
                </a:solidFill>
                <a:effectLst/>
                <a:latin typeface="Avenir Next" panose="020B0503020202020204" pitchFamily="34" charset="0"/>
              </a:rPr>
              <a:t>Each extra pound increases your heart’s workload, requiring it to pump more blood to circulate through fat tissue — and with greater force.</a:t>
            </a:r>
            <a:endParaRPr lang="en-US" sz="1100" dirty="0">
              <a:latin typeface="Avenir Next" panose="020B0503020202020204" pitchFamily="34" charset="0"/>
            </a:endParaRPr>
          </a:p>
        </p:txBody>
      </p:sp>
      <p:sp>
        <p:nvSpPr>
          <p:cNvPr id="17" name="TextBox 16">
            <a:extLst>
              <a:ext uri="{FF2B5EF4-FFF2-40B4-BE49-F238E27FC236}">
                <a16:creationId xmlns:a16="http://schemas.microsoft.com/office/drawing/2014/main" id="{62FCF753-262E-0A5F-BD62-8ED79AC27CAC}"/>
              </a:ext>
            </a:extLst>
          </p:cNvPr>
          <p:cNvSpPr txBox="1"/>
          <p:nvPr/>
        </p:nvSpPr>
        <p:spPr>
          <a:xfrm>
            <a:off x="1249376" y="919078"/>
            <a:ext cx="2434727" cy="769441"/>
          </a:xfrm>
          <a:prstGeom prst="rect">
            <a:avLst/>
          </a:prstGeom>
          <a:noFill/>
        </p:spPr>
        <p:txBody>
          <a:bodyPr wrap="square">
            <a:spAutoFit/>
          </a:bodyPr>
          <a:lstStyle/>
          <a:p>
            <a:r>
              <a:rPr lang="en-US" sz="1100" i="0" u="none" strike="noStrike" dirty="0">
                <a:solidFill>
                  <a:srgbClr val="000000"/>
                </a:solidFill>
                <a:effectLst/>
                <a:latin typeface="Avenir Next" panose="020B0503020202020204" pitchFamily="34" charset="0"/>
              </a:rPr>
              <a:t>Carrying extra weight could raise your risk of heart attack by more than a quarter, even if you are otherwise healthy.</a:t>
            </a:r>
            <a:endParaRPr lang="en-US" sz="1100" dirty="0">
              <a:latin typeface="Avenir Next" panose="020B0503020202020204" pitchFamily="34" charset="0"/>
            </a:endParaRPr>
          </a:p>
        </p:txBody>
      </p:sp>
      <p:sp>
        <p:nvSpPr>
          <p:cNvPr id="19" name="TextBox 18">
            <a:extLst>
              <a:ext uri="{FF2B5EF4-FFF2-40B4-BE49-F238E27FC236}">
                <a16:creationId xmlns:a16="http://schemas.microsoft.com/office/drawing/2014/main" id="{3A6003DE-63B5-9D60-7B5A-164D1A98AF6D}"/>
              </a:ext>
            </a:extLst>
          </p:cNvPr>
          <p:cNvSpPr txBox="1"/>
          <p:nvPr/>
        </p:nvSpPr>
        <p:spPr>
          <a:xfrm>
            <a:off x="1249376" y="4030571"/>
            <a:ext cx="2434727" cy="938719"/>
          </a:xfrm>
          <a:prstGeom prst="rect">
            <a:avLst/>
          </a:prstGeom>
          <a:noFill/>
        </p:spPr>
        <p:txBody>
          <a:bodyPr wrap="square">
            <a:spAutoFit/>
          </a:bodyPr>
          <a:lstStyle/>
          <a:p>
            <a:r>
              <a:rPr lang="en-US" sz="1100" dirty="0">
                <a:solidFill>
                  <a:srgbClr val="000000"/>
                </a:solidFill>
                <a:latin typeface="Avenir Next" panose="020B0503020202020204" pitchFamily="34" charset="0"/>
              </a:rPr>
              <a:t>A</a:t>
            </a:r>
            <a:r>
              <a:rPr lang="en-US" sz="1100" b="0" i="0" u="none" strike="noStrike" dirty="0">
                <a:solidFill>
                  <a:srgbClr val="000000"/>
                </a:solidFill>
                <a:effectLst/>
                <a:latin typeface="Avenir Next" panose="020B0503020202020204" pitchFamily="34" charset="0"/>
              </a:rPr>
              <a:t> growing body of evidence suggests being ‘fat but fit’ is a myth, and that people should aim to maintain a body weight within a healthy range.</a:t>
            </a:r>
            <a:endParaRPr lang="en-US" sz="1100" dirty="0">
              <a:latin typeface="Avenir Next" panose="020B0503020202020204" pitchFamily="34" charset="0"/>
            </a:endParaRPr>
          </a:p>
        </p:txBody>
      </p:sp>
      <p:sp>
        <p:nvSpPr>
          <p:cNvPr id="21" name="TextBox 20">
            <a:extLst>
              <a:ext uri="{FF2B5EF4-FFF2-40B4-BE49-F238E27FC236}">
                <a16:creationId xmlns:a16="http://schemas.microsoft.com/office/drawing/2014/main" id="{840FECA2-4DE1-D308-92DA-D3C8A7D9D810}"/>
              </a:ext>
            </a:extLst>
          </p:cNvPr>
          <p:cNvSpPr txBox="1"/>
          <p:nvPr/>
        </p:nvSpPr>
        <p:spPr>
          <a:xfrm>
            <a:off x="1249376" y="4977724"/>
            <a:ext cx="2410185" cy="938719"/>
          </a:xfrm>
          <a:prstGeom prst="rect">
            <a:avLst/>
          </a:prstGeom>
          <a:noFill/>
        </p:spPr>
        <p:txBody>
          <a:bodyPr wrap="square">
            <a:spAutoFit/>
          </a:bodyPr>
          <a:lstStyle/>
          <a:p>
            <a:r>
              <a:rPr lang="en-US" sz="1100" dirty="0">
                <a:solidFill>
                  <a:srgbClr val="0A0A0A"/>
                </a:solidFill>
                <a:latin typeface="Avenir Next" panose="020B0503020202020204" pitchFamily="34" charset="0"/>
              </a:rPr>
              <a:t>R</a:t>
            </a:r>
            <a:r>
              <a:rPr lang="en-US" sz="1100" b="0" i="0" u="none" strike="noStrike" dirty="0">
                <a:solidFill>
                  <a:srgbClr val="0A0A0A"/>
                </a:solidFill>
                <a:effectLst/>
                <a:latin typeface="Avenir Next" panose="020B0503020202020204" pitchFamily="34" charset="0"/>
              </a:rPr>
              <a:t>esearchers estimated that for each one unit rise in body mass index (BMI) the risk of experiencing heart failure increased by 17%.</a:t>
            </a:r>
            <a:endParaRPr lang="en-US" sz="1100" dirty="0">
              <a:latin typeface="Avenir Next" panose="020B0503020202020204" pitchFamily="34" charset="0"/>
            </a:endParaRPr>
          </a:p>
        </p:txBody>
      </p:sp>
      <p:sp>
        <p:nvSpPr>
          <p:cNvPr id="22" name="TextBox 21">
            <a:extLst>
              <a:ext uri="{FF2B5EF4-FFF2-40B4-BE49-F238E27FC236}">
                <a16:creationId xmlns:a16="http://schemas.microsoft.com/office/drawing/2014/main" id="{B431023D-E93F-0EB1-4487-344675B5E855}"/>
              </a:ext>
            </a:extLst>
          </p:cNvPr>
          <p:cNvSpPr txBox="1"/>
          <p:nvPr/>
        </p:nvSpPr>
        <p:spPr>
          <a:xfrm>
            <a:off x="4047650" y="1690688"/>
            <a:ext cx="8004063" cy="3539430"/>
          </a:xfrm>
          <a:prstGeom prst="rect">
            <a:avLst/>
          </a:prstGeom>
          <a:noFill/>
        </p:spPr>
        <p:txBody>
          <a:bodyPr wrap="square" rtlCol="0">
            <a:spAutoFit/>
          </a:bodyPr>
          <a:lstStyle/>
          <a:p>
            <a:r>
              <a:rPr lang="en-US" sz="1600" dirty="0"/>
              <a:t>These are statistics that motivate you by showing you the impacts of metabolic health issues.  These can be positive (things that improvements enable) or negative things (i.e. outcomes associated with being metabolically unhealthy).   </a:t>
            </a:r>
          </a:p>
          <a:p>
            <a:endParaRPr lang="en-US" sz="1600" dirty="0"/>
          </a:p>
          <a:p>
            <a:r>
              <a:rPr lang="en-US" sz="1600" dirty="0"/>
              <a:t>Examples include:</a:t>
            </a:r>
          </a:p>
          <a:p>
            <a:r>
              <a:rPr lang="en-US" sz="1600" dirty="0"/>
              <a:t>- Heart disease stats.</a:t>
            </a:r>
          </a:p>
          <a:p>
            <a:r>
              <a:rPr lang="en-US" sz="1600" dirty="0"/>
              <a:t>- Diabetes stats.</a:t>
            </a:r>
          </a:p>
          <a:p>
            <a:r>
              <a:rPr lang="en-US" sz="1600" dirty="0"/>
              <a:t>- Strain on joints. </a:t>
            </a:r>
          </a:p>
          <a:p>
            <a:r>
              <a:rPr lang="en-US" sz="1600" dirty="0"/>
              <a:t>- Longevity stats.</a:t>
            </a:r>
          </a:p>
          <a:p>
            <a:pPr lvl="1"/>
            <a:endParaRPr lang="en-US" sz="1600" dirty="0"/>
          </a:p>
          <a:p>
            <a:r>
              <a:rPr lang="en-US" sz="1600" dirty="0"/>
              <a:t>SOS will provide easy way to submit stats that you want to see.  Or SOS will generate stats from database.  </a:t>
            </a:r>
          </a:p>
          <a:p>
            <a:endParaRPr lang="en-US" sz="1600" dirty="0"/>
          </a:p>
          <a:p>
            <a:r>
              <a:rPr lang="en-US" sz="1600" dirty="0"/>
              <a:t>You can submit up to 20 stats that would rotate so that you don’t see same stats all the time.</a:t>
            </a:r>
          </a:p>
        </p:txBody>
      </p:sp>
    </p:spTree>
    <p:extLst>
      <p:ext uri="{BB962C8B-B14F-4D97-AF65-F5344CB8AC3E}">
        <p14:creationId xmlns:p14="http://schemas.microsoft.com/office/powerpoint/2010/main" val="57113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E6B29-69E3-F693-AA8E-C3F0F2375332}"/>
              </a:ext>
            </a:extLst>
          </p:cNvPr>
          <p:cNvSpPr>
            <a:spLocks noGrp="1"/>
          </p:cNvSpPr>
          <p:nvPr>
            <p:ph type="title"/>
          </p:nvPr>
        </p:nvSpPr>
        <p:spPr>
          <a:xfrm>
            <a:off x="4450814" y="365125"/>
            <a:ext cx="7563386" cy="1325563"/>
          </a:xfrm>
        </p:spPr>
        <p:txBody>
          <a:bodyPr>
            <a:normAutofit fontScale="90000"/>
          </a:bodyPr>
          <a:lstStyle/>
          <a:p>
            <a:pPr algn="ctr"/>
            <a:r>
              <a:rPr lang="en-US" sz="4400" dirty="0"/>
              <a:t>Help! I’m About To Go Off the Rails.</a:t>
            </a:r>
            <a:br>
              <a:rPr lang="en-US" dirty="0"/>
            </a:br>
            <a:r>
              <a:rPr lang="en-US" dirty="0"/>
              <a:t>Rewards Reinforcement</a:t>
            </a:r>
          </a:p>
        </p:txBody>
      </p:sp>
      <p:pic>
        <p:nvPicPr>
          <p:cNvPr id="4" name="Picture 3">
            <a:extLst>
              <a:ext uri="{FF2B5EF4-FFF2-40B4-BE49-F238E27FC236}">
                <a16:creationId xmlns:a16="http://schemas.microsoft.com/office/drawing/2014/main" id="{8FD78080-6A92-BD91-F00F-7987D6D19F9C}"/>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939113" y="534824"/>
            <a:ext cx="3089190" cy="5980352"/>
          </a:xfrm>
          <a:prstGeom prst="rect">
            <a:avLst/>
          </a:prstGeom>
        </p:spPr>
      </p:pic>
      <p:sp>
        <p:nvSpPr>
          <p:cNvPr id="5" name="TextBox 4">
            <a:extLst>
              <a:ext uri="{FF2B5EF4-FFF2-40B4-BE49-F238E27FC236}">
                <a16:creationId xmlns:a16="http://schemas.microsoft.com/office/drawing/2014/main" id="{68B17D0D-01D5-60D1-3B8B-AD44B430811C}"/>
              </a:ext>
            </a:extLst>
          </p:cNvPr>
          <p:cNvSpPr txBox="1"/>
          <p:nvPr/>
        </p:nvSpPr>
        <p:spPr>
          <a:xfrm>
            <a:off x="1255924" y="5866481"/>
            <a:ext cx="616944" cy="246221"/>
          </a:xfrm>
          <a:prstGeom prst="rect">
            <a:avLst/>
          </a:prstGeom>
          <a:noFill/>
        </p:spPr>
        <p:txBody>
          <a:bodyPr wrap="square" rtlCol="0">
            <a:spAutoFit/>
          </a:bodyPr>
          <a:lstStyle/>
          <a:p>
            <a:r>
              <a:rPr lang="en-US" sz="1000" b="1" dirty="0"/>
              <a:t>Account</a:t>
            </a:r>
          </a:p>
        </p:txBody>
      </p:sp>
      <p:sp>
        <p:nvSpPr>
          <p:cNvPr id="6" name="TextBox 5">
            <a:extLst>
              <a:ext uri="{FF2B5EF4-FFF2-40B4-BE49-F238E27FC236}">
                <a16:creationId xmlns:a16="http://schemas.microsoft.com/office/drawing/2014/main" id="{541FF132-4FE2-A03F-B4BA-046247935A60}"/>
              </a:ext>
            </a:extLst>
          </p:cNvPr>
          <p:cNvSpPr txBox="1"/>
          <p:nvPr/>
        </p:nvSpPr>
        <p:spPr>
          <a:xfrm>
            <a:off x="1824021" y="5866481"/>
            <a:ext cx="590226" cy="246221"/>
          </a:xfrm>
          <a:prstGeom prst="rect">
            <a:avLst/>
          </a:prstGeom>
          <a:noFill/>
        </p:spPr>
        <p:txBody>
          <a:bodyPr wrap="none" rtlCol="0">
            <a:spAutoFit/>
          </a:bodyPr>
          <a:lstStyle/>
          <a:p>
            <a:r>
              <a:rPr lang="en-US" sz="1000" b="1" dirty="0"/>
              <a:t>Activity</a:t>
            </a:r>
            <a:endParaRPr lang="en-US" sz="1100" b="1" dirty="0"/>
          </a:p>
        </p:txBody>
      </p:sp>
      <p:sp>
        <p:nvSpPr>
          <p:cNvPr id="7" name="TextBox 6">
            <a:extLst>
              <a:ext uri="{FF2B5EF4-FFF2-40B4-BE49-F238E27FC236}">
                <a16:creationId xmlns:a16="http://schemas.microsoft.com/office/drawing/2014/main" id="{B54E45D2-BC06-AC50-8836-9EFA610B996A}"/>
              </a:ext>
            </a:extLst>
          </p:cNvPr>
          <p:cNvSpPr txBox="1"/>
          <p:nvPr/>
        </p:nvSpPr>
        <p:spPr>
          <a:xfrm>
            <a:off x="2347767" y="5866481"/>
            <a:ext cx="535724" cy="246221"/>
          </a:xfrm>
          <a:prstGeom prst="rect">
            <a:avLst/>
          </a:prstGeom>
          <a:noFill/>
        </p:spPr>
        <p:txBody>
          <a:bodyPr wrap="none" rtlCol="0">
            <a:spAutoFit/>
          </a:bodyPr>
          <a:lstStyle/>
          <a:p>
            <a:r>
              <a:rPr lang="en-US" sz="1000" b="1" dirty="0"/>
              <a:t>Profile</a:t>
            </a:r>
            <a:endParaRPr lang="en-US" sz="1100" b="1" dirty="0"/>
          </a:p>
        </p:txBody>
      </p:sp>
      <p:sp>
        <p:nvSpPr>
          <p:cNvPr id="8" name="TextBox 7">
            <a:extLst>
              <a:ext uri="{FF2B5EF4-FFF2-40B4-BE49-F238E27FC236}">
                <a16:creationId xmlns:a16="http://schemas.microsoft.com/office/drawing/2014/main" id="{EBECE2C8-08BC-7174-4912-694F58916DCF}"/>
              </a:ext>
            </a:extLst>
          </p:cNvPr>
          <p:cNvSpPr txBox="1"/>
          <p:nvPr/>
        </p:nvSpPr>
        <p:spPr>
          <a:xfrm>
            <a:off x="3175645" y="5866481"/>
            <a:ext cx="470000" cy="246221"/>
          </a:xfrm>
          <a:prstGeom prst="rect">
            <a:avLst/>
          </a:prstGeom>
          <a:solidFill>
            <a:schemeClr val="bg1"/>
          </a:solidFill>
        </p:spPr>
        <p:txBody>
          <a:bodyPr wrap="none" rtlCol="0">
            <a:spAutoFit/>
          </a:bodyPr>
          <a:lstStyle/>
          <a:p>
            <a:r>
              <a:rPr lang="en-US" sz="1000" b="1" dirty="0"/>
              <a:t>Panic</a:t>
            </a:r>
            <a:endParaRPr lang="en-US" sz="1100" b="1" dirty="0"/>
          </a:p>
        </p:txBody>
      </p:sp>
      <p:sp>
        <p:nvSpPr>
          <p:cNvPr id="9" name="TextBox 8">
            <a:extLst>
              <a:ext uri="{FF2B5EF4-FFF2-40B4-BE49-F238E27FC236}">
                <a16:creationId xmlns:a16="http://schemas.microsoft.com/office/drawing/2014/main" id="{9FF1727D-B9FF-1FCE-ABBB-70A2ACC0A850}"/>
              </a:ext>
            </a:extLst>
          </p:cNvPr>
          <p:cNvSpPr txBox="1"/>
          <p:nvPr/>
        </p:nvSpPr>
        <p:spPr>
          <a:xfrm>
            <a:off x="2821820" y="5866481"/>
            <a:ext cx="402674" cy="246221"/>
          </a:xfrm>
          <a:prstGeom prst="rect">
            <a:avLst/>
          </a:prstGeom>
          <a:solidFill>
            <a:schemeClr val="bg1"/>
          </a:solidFill>
        </p:spPr>
        <p:txBody>
          <a:bodyPr wrap="none" rtlCol="0">
            <a:spAutoFit/>
          </a:bodyPr>
          <a:lstStyle/>
          <a:p>
            <a:r>
              <a:rPr lang="en-US" sz="1000" b="1" dirty="0"/>
              <a:t>Cart</a:t>
            </a:r>
            <a:endParaRPr lang="en-US" sz="1100" b="1" dirty="0"/>
          </a:p>
        </p:txBody>
      </p:sp>
      <p:pic>
        <p:nvPicPr>
          <p:cNvPr id="13" name="Picture 12" descr="A screenshot of a computer&#10;&#10;Description automatically generated">
            <a:extLst>
              <a:ext uri="{FF2B5EF4-FFF2-40B4-BE49-F238E27FC236}">
                <a16:creationId xmlns:a16="http://schemas.microsoft.com/office/drawing/2014/main" id="{A44B5830-346B-8FAA-6A3A-4AEA75BBBCA0}"/>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328893" y="1338553"/>
            <a:ext cx="2250750" cy="1622234"/>
          </a:xfrm>
          <a:prstGeom prst="rect">
            <a:avLst/>
          </a:prstGeom>
        </p:spPr>
      </p:pic>
      <p:sp>
        <p:nvSpPr>
          <p:cNvPr id="14" name="TextBox 13">
            <a:extLst>
              <a:ext uri="{FF2B5EF4-FFF2-40B4-BE49-F238E27FC236}">
                <a16:creationId xmlns:a16="http://schemas.microsoft.com/office/drawing/2014/main" id="{0B5B0FCB-271F-66C6-163C-FFA9487CBE83}"/>
              </a:ext>
            </a:extLst>
          </p:cNvPr>
          <p:cNvSpPr txBox="1"/>
          <p:nvPr/>
        </p:nvSpPr>
        <p:spPr>
          <a:xfrm>
            <a:off x="1292356" y="1095517"/>
            <a:ext cx="1260281" cy="253916"/>
          </a:xfrm>
          <a:prstGeom prst="rect">
            <a:avLst/>
          </a:prstGeom>
          <a:noFill/>
        </p:spPr>
        <p:txBody>
          <a:bodyPr wrap="none" rtlCol="0">
            <a:spAutoFit/>
          </a:bodyPr>
          <a:lstStyle/>
          <a:p>
            <a:r>
              <a:rPr lang="en-US" sz="1050" b="1" dirty="0"/>
              <a:t>Lose 10 pounds: </a:t>
            </a:r>
            <a:r>
              <a:rPr lang="en-US" sz="500" b="1" dirty="0">
                <a:solidFill>
                  <a:schemeClr val="accent1">
                    <a:lumMod val="75000"/>
                  </a:schemeClr>
                </a:solidFill>
              </a:rPr>
              <a:t>(edit)</a:t>
            </a:r>
            <a:endParaRPr lang="en-US" sz="1600" b="1" dirty="0"/>
          </a:p>
        </p:txBody>
      </p:sp>
      <p:sp>
        <p:nvSpPr>
          <p:cNvPr id="15" name="TextBox 14">
            <a:extLst>
              <a:ext uri="{FF2B5EF4-FFF2-40B4-BE49-F238E27FC236}">
                <a16:creationId xmlns:a16="http://schemas.microsoft.com/office/drawing/2014/main" id="{8AF4F2C8-CA63-17B5-875E-73E88392657B}"/>
              </a:ext>
            </a:extLst>
          </p:cNvPr>
          <p:cNvSpPr txBox="1"/>
          <p:nvPr/>
        </p:nvSpPr>
        <p:spPr>
          <a:xfrm>
            <a:off x="1255924" y="2908108"/>
            <a:ext cx="1377300" cy="253916"/>
          </a:xfrm>
          <a:prstGeom prst="rect">
            <a:avLst/>
          </a:prstGeom>
          <a:noFill/>
        </p:spPr>
        <p:txBody>
          <a:bodyPr wrap="none" rtlCol="0">
            <a:spAutoFit/>
          </a:bodyPr>
          <a:lstStyle/>
          <a:p>
            <a:r>
              <a:rPr lang="en-US" sz="1050" dirty="0"/>
              <a:t>Travis Matthews Shirt</a:t>
            </a:r>
          </a:p>
        </p:txBody>
      </p:sp>
      <p:sp>
        <p:nvSpPr>
          <p:cNvPr id="17" name="TextBox 16">
            <a:extLst>
              <a:ext uri="{FF2B5EF4-FFF2-40B4-BE49-F238E27FC236}">
                <a16:creationId xmlns:a16="http://schemas.microsoft.com/office/drawing/2014/main" id="{6B0D5005-EE74-BB07-0A66-38BC49469689}"/>
              </a:ext>
            </a:extLst>
          </p:cNvPr>
          <p:cNvSpPr txBox="1"/>
          <p:nvPr/>
        </p:nvSpPr>
        <p:spPr>
          <a:xfrm>
            <a:off x="1292356" y="3178865"/>
            <a:ext cx="1260281" cy="253916"/>
          </a:xfrm>
          <a:prstGeom prst="rect">
            <a:avLst/>
          </a:prstGeom>
          <a:noFill/>
        </p:spPr>
        <p:txBody>
          <a:bodyPr wrap="none" rtlCol="0">
            <a:spAutoFit/>
          </a:bodyPr>
          <a:lstStyle/>
          <a:p>
            <a:r>
              <a:rPr lang="en-US" sz="1050" b="1" dirty="0"/>
              <a:t>Lose 20 pounds: </a:t>
            </a:r>
            <a:r>
              <a:rPr lang="en-US" sz="500" b="1" dirty="0">
                <a:solidFill>
                  <a:schemeClr val="accent1">
                    <a:lumMod val="75000"/>
                  </a:schemeClr>
                </a:solidFill>
              </a:rPr>
              <a:t>(edit)</a:t>
            </a:r>
            <a:endParaRPr lang="en-US" sz="1600" b="1" dirty="0"/>
          </a:p>
        </p:txBody>
      </p:sp>
      <p:sp>
        <p:nvSpPr>
          <p:cNvPr id="18" name="TextBox 17">
            <a:extLst>
              <a:ext uri="{FF2B5EF4-FFF2-40B4-BE49-F238E27FC236}">
                <a16:creationId xmlns:a16="http://schemas.microsoft.com/office/drawing/2014/main" id="{D4EDDEDF-BA17-7C58-E03D-C1B069DEE4F9}"/>
              </a:ext>
            </a:extLst>
          </p:cNvPr>
          <p:cNvSpPr txBox="1"/>
          <p:nvPr/>
        </p:nvSpPr>
        <p:spPr>
          <a:xfrm>
            <a:off x="1255924" y="4930868"/>
            <a:ext cx="1066318" cy="253916"/>
          </a:xfrm>
          <a:prstGeom prst="rect">
            <a:avLst/>
          </a:prstGeom>
          <a:noFill/>
        </p:spPr>
        <p:txBody>
          <a:bodyPr wrap="none" rtlCol="0">
            <a:spAutoFit/>
          </a:bodyPr>
          <a:lstStyle/>
          <a:p>
            <a:r>
              <a:rPr lang="en-US" sz="1050" dirty="0"/>
              <a:t>Paradigm Driver</a:t>
            </a:r>
          </a:p>
        </p:txBody>
      </p:sp>
      <p:pic>
        <p:nvPicPr>
          <p:cNvPr id="20" name="Picture 19" descr="A screenshot of a computer&#10;&#10;Description automatically generated">
            <a:extLst>
              <a:ext uri="{FF2B5EF4-FFF2-40B4-BE49-F238E27FC236}">
                <a16:creationId xmlns:a16="http://schemas.microsoft.com/office/drawing/2014/main" id="{DBF7D097-59C8-7115-AE37-514AE5DC154E}"/>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1328893" y="3449622"/>
            <a:ext cx="1171936" cy="1536033"/>
          </a:xfrm>
          <a:prstGeom prst="rect">
            <a:avLst/>
          </a:prstGeom>
        </p:spPr>
      </p:pic>
      <p:sp>
        <p:nvSpPr>
          <p:cNvPr id="21" name="TextBox 20">
            <a:extLst>
              <a:ext uri="{FF2B5EF4-FFF2-40B4-BE49-F238E27FC236}">
                <a16:creationId xmlns:a16="http://schemas.microsoft.com/office/drawing/2014/main" id="{1FA6AEDB-5349-6F65-F2C4-F91D7F390627}"/>
              </a:ext>
            </a:extLst>
          </p:cNvPr>
          <p:cNvSpPr txBox="1"/>
          <p:nvPr/>
        </p:nvSpPr>
        <p:spPr>
          <a:xfrm>
            <a:off x="4047650" y="1690688"/>
            <a:ext cx="8004063" cy="2800767"/>
          </a:xfrm>
          <a:prstGeom prst="rect">
            <a:avLst/>
          </a:prstGeom>
          <a:noFill/>
        </p:spPr>
        <p:txBody>
          <a:bodyPr wrap="square" rtlCol="0">
            <a:spAutoFit/>
          </a:bodyPr>
          <a:lstStyle/>
          <a:p>
            <a:r>
              <a:rPr lang="en-US" sz="1600" dirty="0"/>
              <a:t>Accomplishments should be rewarded.  Sometimes that is simply a compliment or self congratulatory thoughts.  But sometimes you want something tangible (provided by you, an accountability partner, or a loved one).  </a:t>
            </a:r>
          </a:p>
          <a:p>
            <a:endParaRPr lang="en-US" sz="1600" dirty="0"/>
          </a:p>
          <a:p>
            <a:r>
              <a:rPr lang="en-US" sz="1600" dirty="0"/>
              <a:t>These rewards can be viewed by you only and/or shared with others.</a:t>
            </a:r>
          </a:p>
          <a:p>
            <a:endParaRPr lang="en-US" sz="1600" dirty="0"/>
          </a:p>
          <a:p>
            <a:r>
              <a:rPr lang="en-US" sz="1600" dirty="0"/>
              <a:t>The rewards can be shared with others participating in a weight loss challenge.</a:t>
            </a:r>
          </a:p>
          <a:p>
            <a:endParaRPr lang="en-US" sz="1600" dirty="0"/>
          </a:p>
          <a:p>
            <a:r>
              <a:rPr lang="en-US" sz="1600" dirty="0"/>
              <a:t>Ultimately, you want to include rewards that are meaningful and attainable.  </a:t>
            </a:r>
          </a:p>
          <a:p>
            <a:pPr lvl="1"/>
            <a:endParaRPr lang="en-US" sz="1600" dirty="0"/>
          </a:p>
          <a:p>
            <a:r>
              <a:rPr lang="en-US" sz="1600" dirty="0"/>
              <a:t>SOS can provide suggestions.</a:t>
            </a:r>
          </a:p>
        </p:txBody>
      </p:sp>
    </p:spTree>
    <p:extLst>
      <p:ext uri="{BB962C8B-B14F-4D97-AF65-F5344CB8AC3E}">
        <p14:creationId xmlns:p14="http://schemas.microsoft.com/office/powerpoint/2010/main" val="29150229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24458-E1A5-0A72-DC62-DE34280C3DC0}"/>
              </a:ext>
            </a:extLst>
          </p:cNvPr>
          <p:cNvSpPr>
            <a:spLocks noGrp="1"/>
          </p:cNvSpPr>
          <p:nvPr>
            <p:ph type="title"/>
          </p:nvPr>
        </p:nvSpPr>
        <p:spPr>
          <a:xfrm>
            <a:off x="4450814" y="365125"/>
            <a:ext cx="7525286" cy="1325563"/>
          </a:xfrm>
        </p:spPr>
        <p:txBody>
          <a:bodyPr>
            <a:normAutofit fontScale="90000"/>
          </a:bodyPr>
          <a:lstStyle/>
          <a:p>
            <a:pPr algn="ctr"/>
            <a:r>
              <a:rPr lang="en-US" sz="4400" dirty="0"/>
              <a:t>Help! I’m About To Go Off the Rails</a:t>
            </a:r>
            <a:br>
              <a:rPr lang="en-US" dirty="0"/>
            </a:br>
            <a:r>
              <a:rPr lang="en-US" dirty="0"/>
              <a:t>Food alternatives</a:t>
            </a:r>
          </a:p>
        </p:txBody>
      </p:sp>
      <p:pic>
        <p:nvPicPr>
          <p:cNvPr id="4" name="Picture 3">
            <a:extLst>
              <a:ext uri="{FF2B5EF4-FFF2-40B4-BE49-F238E27FC236}">
                <a16:creationId xmlns:a16="http://schemas.microsoft.com/office/drawing/2014/main" id="{F3EA1A44-1688-4828-5317-1869D13CB8A1}"/>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939113" y="534824"/>
            <a:ext cx="3089190" cy="5980352"/>
          </a:xfrm>
          <a:prstGeom prst="rect">
            <a:avLst/>
          </a:prstGeom>
        </p:spPr>
      </p:pic>
      <p:sp>
        <p:nvSpPr>
          <p:cNvPr id="5" name="TextBox 4">
            <a:extLst>
              <a:ext uri="{FF2B5EF4-FFF2-40B4-BE49-F238E27FC236}">
                <a16:creationId xmlns:a16="http://schemas.microsoft.com/office/drawing/2014/main" id="{F7E217F7-28E0-A926-0DDA-466AA0BA7377}"/>
              </a:ext>
            </a:extLst>
          </p:cNvPr>
          <p:cNvSpPr txBox="1"/>
          <p:nvPr/>
        </p:nvSpPr>
        <p:spPr>
          <a:xfrm>
            <a:off x="1255924" y="5866481"/>
            <a:ext cx="616944" cy="246221"/>
          </a:xfrm>
          <a:prstGeom prst="rect">
            <a:avLst/>
          </a:prstGeom>
          <a:noFill/>
        </p:spPr>
        <p:txBody>
          <a:bodyPr wrap="square" rtlCol="0">
            <a:spAutoFit/>
          </a:bodyPr>
          <a:lstStyle/>
          <a:p>
            <a:r>
              <a:rPr lang="en-US" sz="1000" b="1" dirty="0"/>
              <a:t>Account</a:t>
            </a:r>
          </a:p>
        </p:txBody>
      </p:sp>
      <p:sp>
        <p:nvSpPr>
          <p:cNvPr id="6" name="TextBox 5">
            <a:extLst>
              <a:ext uri="{FF2B5EF4-FFF2-40B4-BE49-F238E27FC236}">
                <a16:creationId xmlns:a16="http://schemas.microsoft.com/office/drawing/2014/main" id="{2CE6AD0F-394B-2534-7274-B8C56451259B}"/>
              </a:ext>
            </a:extLst>
          </p:cNvPr>
          <p:cNvSpPr txBox="1"/>
          <p:nvPr/>
        </p:nvSpPr>
        <p:spPr>
          <a:xfrm>
            <a:off x="1824021" y="5866481"/>
            <a:ext cx="590226" cy="246221"/>
          </a:xfrm>
          <a:prstGeom prst="rect">
            <a:avLst/>
          </a:prstGeom>
          <a:noFill/>
        </p:spPr>
        <p:txBody>
          <a:bodyPr wrap="none" rtlCol="0">
            <a:spAutoFit/>
          </a:bodyPr>
          <a:lstStyle/>
          <a:p>
            <a:r>
              <a:rPr lang="en-US" sz="1000" b="1" dirty="0"/>
              <a:t>Activity</a:t>
            </a:r>
            <a:endParaRPr lang="en-US" sz="1100" b="1" dirty="0"/>
          </a:p>
        </p:txBody>
      </p:sp>
      <p:sp>
        <p:nvSpPr>
          <p:cNvPr id="7" name="TextBox 6">
            <a:extLst>
              <a:ext uri="{FF2B5EF4-FFF2-40B4-BE49-F238E27FC236}">
                <a16:creationId xmlns:a16="http://schemas.microsoft.com/office/drawing/2014/main" id="{D241D35C-7357-D065-A60B-1D30586170F7}"/>
              </a:ext>
            </a:extLst>
          </p:cNvPr>
          <p:cNvSpPr txBox="1"/>
          <p:nvPr/>
        </p:nvSpPr>
        <p:spPr>
          <a:xfrm>
            <a:off x="2347767" y="5866481"/>
            <a:ext cx="535724" cy="246221"/>
          </a:xfrm>
          <a:prstGeom prst="rect">
            <a:avLst/>
          </a:prstGeom>
          <a:noFill/>
        </p:spPr>
        <p:txBody>
          <a:bodyPr wrap="none" rtlCol="0">
            <a:spAutoFit/>
          </a:bodyPr>
          <a:lstStyle/>
          <a:p>
            <a:r>
              <a:rPr lang="en-US" sz="1000" b="1" dirty="0"/>
              <a:t>Profile</a:t>
            </a:r>
            <a:endParaRPr lang="en-US" sz="1100" b="1" dirty="0"/>
          </a:p>
        </p:txBody>
      </p:sp>
      <p:sp>
        <p:nvSpPr>
          <p:cNvPr id="8" name="TextBox 7">
            <a:extLst>
              <a:ext uri="{FF2B5EF4-FFF2-40B4-BE49-F238E27FC236}">
                <a16:creationId xmlns:a16="http://schemas.microsoft.com/office/drawing/2014/main" id="{F46D542E-0796-17F0-E036-E503E303546E}"/>
              </a:ext>
            </a:extLst>
          </p:cNvPr>
          <p:cNvSpPr txBox="1"/>
          <p:nvPr/>
        </p:nvSpPr>
        <p:spPr>
          <a:xfrm>
            <a:off x="3175645" y="5866481"/>
            <a:ext cx="470000" cy="246221"/>
          </a:xfrm>
          <a:prstGeom prst="rect">
            <a:avLst/>
          </a:prstGeom>
          <a:solidFill>
            <a:schemeClr val="bg1"/>
          </a:solidFill>
        </p:spPr>
        <p:txBody>
          <a:bodyPr wrap="none" rtlCol="0">
            <a:spAutoFit/>
          </a:bodyPr>
          <a:lstStyle/>
          <a:p>
            <a:r>
              <a:rPr lang="en-US" sz="1000" b="1" dirty="0"/>
              <a:t>Panic</a:t>
            </a:r>
            <a:endParaRPr lang="en-US" sz="1100" b="1" dirty="0"/>
          </a:p>
        </p:txBody>
      </p:sp>
      <p:sp>
        <p:nvSpPr>
          <p:cNvPr id="9" name="TextBox 8">
            <a:extLst>
              <a:ext uri="{FF2B5EF4-FFF2-40B4-BE49-F238E27FC236}">
                <a16:creationId xmlns:a16="http://schemas.microsoft.com/office/drawing/2014/main" id="{AECEFADC-FDFD-74C1-121C-854D2F451A77}"/>
              </a:ext>
            </a:extLst>
          </p:cNvPr>
          <p:cNvSpPr txBox="1"/>
          <p:nvPr/>
        </p:nvSpPr>
        <p:spPr>
          <a:xfrm>
            <a:off x="2821820" y="5866481"/>
            <a:ext cx="402674" cy="246221"/>
          </a:xfrm>
          <a:prstGeom prst="rect">
            <a:avLst/>
          </a:prstGeom>
          <a:solidFill>
            <a:schemeClr val="bg1"/>
          </a:solidFill>
        </p:spPr>
        <p:txBody>
          <a:bodyPr wrap="none" rtlCol="0">
            <a:spAutoFit/>
          </a:bodyPr>
          <a:lstStyle/>
          <a:p>
            <a:r>
              <a:rPr lang="en-US" sz="1000" b="1" dirty="0"/>
              <a:t>Cart</a:t>
            </a:r>
            <a:endParaRPr lang="en-US" sz="1100" b="1" dirty="0"/>
          </a:p>
        </p:txBody>
      </p:sp>
      <p:sp>
        <p:nvSpPr>
          <p:cNvPr id="10" name="TextBox 9">
            <a:extLst>
              <a:ext uri="{FF2B5EF4-FFF2-40B4-BE49-F238E27FC236}">
                <a16:creationId xmlns:a16="http://schemas.microsoft.com/office/drawing/2014/main" id="{1A4AD36A-F64D-0A2E-2258-AD596739AE9E}"/>
              </a:ext>
            </a:extLst>
          </p:cNvPr>
          <p:cNvSpPr txBox="1"/>
          <p:nvPr/>
        </p:nvSpPr>
        <p:spPr>
          <a:xfrm>
            <a:off x="1368740" y="1027906"/>
            <a:ext cx="1806905" cy="1061829"/>
          </a:xfrm>
          <a:prstGeom prst="rect">
            <a:avLst/>
          </a:prstGeom>
          <a:noFill/>
        </p:spPr>
        <p:txBody>
          <a:bodyPr wrap="none" rtlCol="0">
            <a:spAutoFit/>
          </a:bodyPr>
          <a:lstStyle/>
          <a:p>
            <a:r>
              <a:rPr lang="en-US" sz="1050" b="1" dirty="0"/>
              <a:t>My Top 5 Food Kryponite: </a:t>
            </a:r>
            <a:r>
              <a:rPr lang="en-US" sz="500" b="1" dirty="0">
                <a:solidFill>
                  <a:schemeClr val="accent1">
                    <a:lumMod val="75000"/>
                  </a:schemeClr>
                </a:solidFill>
              </a:rPr>
              <a:t>(edit)</a:t>
            </a:r>
            <a:endParaRPr lang="en-US" sz="1600" b="1" dirty="0"/>
          </a:p>
          <a:p>
            <a:pPr marL="342900" indent="-342900">
              <a:buAutoNum type="arabicPeriod"/>
            </a:pPr>
            <a:r>
              <a:rPr lang="en-US" sz="1050" dirty="0">
                <a:highlight>
                  <a:srgbClr val="00FFFF"/>
                </a:highlight>
              </a:rPr>
              <a:t>Ice Cream</a:t>
            </a:r>
          </a:p>
          <a:p>
            <a:pPr marL="342900" indent="-342900">
              <a:buAutoNum type="arabicPeriod"/>
            </a:pPr>
            <a:r>
              <a:rPr lang="en-US" sz="1050" dirty="0"/>
              <a:t>Cheese</a:t>
            </a:r>
          </a:p>
          <a:p>
            <a:pPr marL="342900" indent="-342900">
              <a:buAutoNum type="arabicPeriod"/>
            </a:pPr>
            <a:r>
              <a:rPr lang="en-US" sz="1050" dirty="0"/>
              <a:t>Desserts</a:t>
            </a:r>
          </a:p>
          <a:p>
            <a:pPr marL="342900" indent="-342900">
              <a:buAutoNum type="arabicPeriod"/>
            </a:pPr>
            <a:r>
              <a:rPr lang="en-US" sz="1050" dirty="0"/>
              <a:t>Bread</a:t>
            </a:r>
          </a:p>
          <a:p>
            <a:pPr marL="342900" indent="-342900">
              <a:buAutoNum type="arabicPeriod"/>
            </a:pPr>
            <a:r>
              <a:rPr lang="en-US" sz="1050" dirty="0"/>
              <a:t>Oversized quantities</a:t>
            </a:r>
          </a:p>
        </p:txBody>
      </p:sp>
      <p:sp>
        <p:nvSpPr>
          <p:cNvPr id="12" name="TextBox 11">
            <a:extLst>
              <a:ext uri="{FF2B5EF4-FFF2-40B4-BE49-F238E27FC236}">
                <a16:creationId xmlns:a16="http://schemas.microsoft.com/office/drawing/2014/main" id="{EF7A619D-5C87-88E5-4105-CD037F478E08}"/>
              </a:ext>
            </a:extLst>
          </p:cNvPr>
          <p:cNvSpPr txBox="1"/>
          <p:nvPr/>
        </p:nvSpPr>
        <p:spPr>
          <a:xfrm>
            <a:off x="1255924" y="2213485"/>
            <a:ext cx="6097836" cy="1785104"/>
          </a:xfrm>
          <a:prstGeom prst="rect">
            <a:avLst/>
          </a:prstGeom>
          <a:noFill/>
        </p:spPr>
        <p:txBody>
          <a:bodyPr wrap="square">
            <a:spAutoFit/>
          </a:bodyPr>
          <a:lstStyle/>
          <a:p>
            <a:r>
              <a:rPr lang="en-US" sz="1200" dirty="0">
                <a:highlight>
                  <a:srgbClr val="00FFFF"/>
                </a:highlight>
              </a:rPr>
              <a:t>Ice Cream Alternatives</a:t>
            </a:r>
          </a:p>
          <a:p>
            <a:pPr marL="171450" indent="-171450">
              <a:buFont typeface="Arial" panose="020B0604020202020204" pitchFamily="34" charset="0"/>
              <a:buChar char="•"/>
            </a:pPr>
            <a:r>
              <a:rPr lang="en-US" sz="1050" dirty="0"/>
              <a:t>Apple</a:t>
            </a:r>
          </a:p>
          <a:p>
            <a:pPr marL="171450" indent="-171450">
              <a:buFont typeface="Arial" panose="020B0604020202020204" pitchFamily="34" charset="0"/>
              <a:buChar char="•"/>
            </a:pPr>
            <a:r>
              <a:rPr lang="en-US" sz="1050" dirty="0"/>
              <a:t>Apple with a little peanut butter</a:t>
            </a:r>
          </a:p>
          <a:p>
            <a:pPr marL="171450" indent="-171450">
              <a:buFont typeface="Arial" panose="020B0604020202020204" pitchFamily="34" charset="0"/>
              <a:buChar char="•"/>
            </a:pPr>
            <a:r>
              <a:rPr lang="en-US" sz="1050" dirty="0"/>
              <a:t>Orange</a:t>
            </a:r>
          </a:p>
          <a:p>
            <a:pPr marL="171450" indent="-171450">
              <a:buFont typeface="Arial" panose="020B0604020202020204" pitchFamily="34" charset="0"/>
              <a:buChar char="•"/>
            </a:pPr>
            <a:r>
              <a:rPr lang="en-US" sz="1050" dirty="0"/>
              <a:t>Pear</a:t>
            </a:r>
          </a:p>
          <a:p>
            <a:pPr marL="171450" indent="-171450">
              <a:buFont typeface="Arial" panose="020B0604020202020204" pitchFamily="34" charset="0"/>
              <a:buChar char="•"/>
            </a:pPr>
            <a:r>
              <a:rPr lang="en-US" sz="1050" dirty="0"/>
              <a:t>Protein shake with a few berries</a:t>
            </a:r>
          </a:p>
          <a:p>
            <a:pPr marL="171450" indent="-171450">
              <a:buFont typeface="Arial" panose="020B0604020202020204" pitchFamily="34" charset="0"/>
              <a:buChar char="•"/>
            </a:pPr>
            <a:r>
              <a:rPr lang="en-US" sz="1050" dirty="0"/>
              <a:t>Celery with a little peanut butter</a:t>
            </a:r>
          </a:p>
          <a:p>
            <a:pPr marL="171450" indent="-171450">
              <a:buFont typeface="Arial" panose="020B0604020202020204" pitchFamily="34" charset="0"/>
              <a:buChar char="•"/>
            </a:pPr>
            <a:r>
              <a:rPr lang="en-US" sz="1050" dirty="0"/>
              <a:t>Celery with almond butter</a:t>
            </a:r>
          </a:p>
          <a:p>
            <a:endParaRPr lang="en-US" sz="1050" dirty="0"/>
          </a:p>
          <a:p>
            <a:endParaRPr lang="en-US" sz="1400" dirty="0">
              <a:highlight>
                <a:srgbClr val="00FFFF"/>
              </a:highlight>
            </a:endParaRPr>
          </a:p>
        </p:txBody>
      </p:sp>
      <p:sp>
        <p:nvSpPr>
          <p:cNvPr id="13" name="TextBox 12">
            <a:extLst>
              <a:ext uri="{FF2B5EF4-FFF2-40B4-BE49-F238E27FC236}">
                <a16:creationId xmlns:a16="http://schemas.microsoft.com/office/drawing/2014/main" id="{7C02589A-D891-3D6C-37A8-854CF63BAE2B}"/>
              </a:ext>
            </a:extLst>
          </p:cNvPr>
          <p:cNvSpPr txBox="1"/>
          <p:nvPr/>
        </p:nvSpPr>
        <p:spPr>
          <a:xfrm>
            <a:off x="4047650" y="1690688"/>
            <a:ext cx="8004063" cy="2308324"/>
          </a:xfrm>
          <a:prstGeom prst="rect">
            <a:avLst/>
          </a:prstGeom>
          <a:noFill/>
        </p:spPr>
        <p:txBody>
          <a:bodyPr wrap="square" rtlCol="0">
            <a:spAutoFit/>
          </a:bodyPr>
          <a:lstStyle/>
          <a:p>
            <a:r>
              <a:rPr lang="en-US" sz="1600" dirty="0"/>
              <a:t>Dieters can identify the foods that create the most issues for them while dieting.</a:t>
            </a:r>
          </a:p>
          <a:p>
            <a:endParaRPr lang="en-US" sz="1600" dirty="0"/>
          </a:p>
          <a:p>
            <a:r>
              <a:rPr lang="en-US" sz="1600" dirty="0"/>
              <a:t>SOS will generate healthier alternative suggestions (using AI and/or manual input from nutritionist).</a:t>
            </a:r>
          </a:p>
          <a:p>
            <a:endParaRPr lang="en-US" sz="1600" dirty="0"/>
          </a:p>
          <a:p>
            <a:r>
              <a:rPr lang="en-US" sz="1600" dirty="0"/>
              <a:t>Dieter can select specific food from their list to see the Healthier alternatives.</a:t>
            </a:r>
          </a:p>
          <a:p>
            <a:pPr lvl="1"/>
            <a:endParaRPr lang="en-US" sz="1600" dirty="0"/>
          </a:p>
          <a:p>
            <a:r>
              <a:rPr lang="en-US" sz="1600" dirty="0"/>
              <a:t>SOS can provide suggestions for other foods that may present problems and then provide specific alternative suggestions.</a:t>
            </a:r>
          </a:p>
        </p:txBody>
      </p:sp>
    </p:spTree>
    <p:extLst>
      <p:ext uri="{BB962C8B-B14F-4D97-AF65-F5344CB8AC3E}">
        <p14:creationId xmlns:p14="http://schemas.microsoft.com/office/powerpoint/2010/main" val="21383747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662286-B49C-8581-76EE-12C4882BF3F5}"/>
              </a:ext>
            </a:extLst>
          </p:cNvPr>
          <p:cNvSpPr>
            <a:spLocks noGrp="1"/>
          </p:cNvSpPr>
          <p:nvPr>
            <p:ph type="title"/>
          </p:nvPr>
        </p:nvSpPr>
        <p:spPr>
          <a:xfrm>
            <a:off x="4494882" y="365125"/>
            <a:ext cx="7341518" cy="1325563"/>
          </a:xfrm>
        </p:spPr>
        <p:txBody>
          <a:bodyPr>
            <a:normAutofit fontScale="90000"/>
          </a:bodyPr>
          <a:lstStyle/>
          <a:p>
            <a:pPr algn="ctr"/>
            <a:r>
              <a:rPr lang="en-US" sz="4400" dirty="0"/>
              <a:t>Help! I’m About To Go Off the Rails</a:t>
            </a:r>
            <a:br>
              <a:rPr lang="en-US" dirty="0"/>
            </a:br>
            <a:r>
              <a:rPr lang="en-US" dirty="0"/>
              <a:t>Direct Call from Coach</a:t>
            </a:r>
          </a:p>
        </p:txBody>
      </p:sp>
      <p:pic>
        <p:nvPicPr>
          <p:cNvPr id="4" name="Picture 3">
            <a:extLst>
              <a:ext uri="{FF2B5EF4-FFF2-40B4-BE49-F238E27FC236}">
                <a16:creationId xmlns:a16="http://schemas.microsoft.com/office/drawing/2014/main" id="{2DC3675F-DFE3-7366-6C40-B71429DE14B9}"/>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939113" y="534824"/>
            <a:ext cx="3089190" cy="5980352"/>
          </a:xfrm>
          <a:prstGeom prst="rect">
            <a:avLst/>
          </a:prstGeom>
        </p:spPr>
      </p:pic>
      <p:sp>
        <p:nvSpPr>
          <p:cNvPr id="5" name="TextBox 4">
            <a:extLst>
              <a:ext uri="{FF2B5EF4-FFF2-40B4-BE49-F238E27FC236}">
                <a16:creationId xmlns:a16="http://schemas.microsoft.com/office/drawing/2014/main" id="{E14BE0FA-7E33-10F9-66FE-654183A5F811}"/>
              </a:ext>
            </a:extLst>
          </p:cNvPr>
          <p:cNvSpPr txBox="1"/>
          <p:nvPr/>
        </p:nvSpPr>
        <p:spPr>
          <a:xfrm>
            <a:off x="1255924" y="5866481"/>
            <a:ext cx="616944" cy="246221"/>
          </a:xfrm>
          <a:prstGeom prst="rect">
            <a:avLst/>
          </a:prstGeom>
          <a:noFill/>
        </p:spPr>
        <p:txBody>
          <a:bodyPr wrap="square" rtlCol="0">
            <a:spAutoFit/>
          </a:bodyPr>
          <a:lstStyle/>
          <a:p>
            <a:r>
              <a:rPr lang="en-US" sz="1000" b="1" dirty="0"/>
              <a:t>Account</a:t>
            </a:r>
          </a:p>
        </p:txBody>
      </p:sp>
      <p:sp>
        <p:nvSpPr>
          <p:cNvPr id="6" name="TextBox 5">
            <a:extLst>
              <a:ext uri="{FF2B5EF4-FFF2-40B4-BE49-F238E27FC236}">
                <a16:creationId xmlns:a16="http://schemas.microsoft.com/office/drawing/2014/main" id="{DB2B4136-144B-ABD8-C324-487FB218E2A2}"/>
              </a:ext>
            </a:extLst>
          </p:cNvPr>
          <p:cNvSpPr txBox="1"/>
          <p:nvPr/>
        </p:nvSpPr>
        <p:spPr>
          <a:xfrm>
            <a:off x="1824021" y="5866481"/>
            <a:ext cx="590226" cy="246221"/>
          </a:xfrm>
          <a:prstGeom prst="rect">
            <a:avLst/>
          </a:prstGeom>
          <a:noFill/>
        </p:spPr>
        <p:txBody>
          <a:bodyPr wrap="none" rtlCol="0">
            <a:spAutoFit/>
          </a:bodyPr>
          <a:lstStyle/>
          <a:p>
            <a:r>
              <a:rPr lang="en-US" sz="1000" b="1" dirty="0"/>
              <a:t>Activity</a:t>
            </a:r>
            <a:endParaRPr lang="en-US" sz="1100" b="1" dirty="0"/>
          </a:p>
        </p:txBody>
      </p:sp>
      <p:sp>
        <p:nvSpPr>
          <p:cNvPr id="7" name="TextBox 6">
            <a:extLst>
              <a:ext uri="{FF2B5EF4-FFF2-40B4-BE49-F238E27FC236}">
                <a16:creationId xmlns:a16="http://schemas.microsoft.com/office/drawing/2014/main" id="{DF0C4282-4AA8-EF5A-9C1D-E9C86C86A7D7}"/>
              </a:ext>
            </a:extLst>
          </p:cNvPr>
          <p:cNvSpPr txBox="1"/>
          <p:nvPr/>
        </p:nvSpPr>
        <p:spPr>
          <a:xfrm>
            <a:off x="2347767" y="5866481"/>
            <a:ext cx="535724" cy="246221"/>
          </a:xfrm>
          <a:prstGeom prst="rect">
            <a:avLst/>
          </a:prstGeom>
          <a:noFill/>
        </p:spPr>
        <p:txBody>
          <a:bodyPr wrap="none" rtlCol="0">
            <a:spAutoFit/>
          </a:bodyPr>
          <a:lstStyle/>
          <a:p>
            <a:r>
              <a:rPr lang="en-US" sz="1000" b="1" dirty="0"/>
              <a:t>Profile</a:t>
            </a:r>
            <a:endParaRPr lang="en-US" sz="1100" b="1" dirty="0"/>
          </a:p>
        </p:txBody>
      </p:sp>
      <p:sp>
        <p:nvSpPr>
          <p:cNvPr id="8" name="TextBox 7">
            <a:extLst>
              <a:ext uri="{FF2B5EF4-FFF2-40B4-BE49-F238E27FC236}">
                <a16:creationId xmlns:a16="http://schemas.microsoft.com/office/drawing/2014/main" id="{76171DEA-82DE-7399-1A5D-C937A2C1271C}"/>
              </a:ext>
            </a:extLst>
          </p:cNvPr>
          <p:cNvSpPr txBox="1"/>
          <p:nvPr/>
        </p:nvSpPr>
        <p:spPr>
          <a:xfrm>
            <a:off x="3175645" y="5866481"/>
            <a:ext cx="470000" cy="246221"/>
          </a:xfrm>
          <a:prstGeom prst="rect">
            <a:avLst/>
          </a:prstGeom>
          <a:solidFill>
            <a:schemeClr val="bg1"/>
          </a:solidFill>
        </p:spPr>
        <p:txBody>
          <a:bodyPr wrap="none" rtlCol="0">
            <a:spAutoFit/>
          </a:bodyPr>
          <a:lstStyle/>
          <a:p>
            <a:r>
              <a:rPr lang="en-US" sz="1000" b="1" dirty="0"/>
              <a:t>Panic</a:t>
            </a:r>
            <a:endParaRPr lang="en-US" sz="1100" b="1" dirty="0"/>
          </a:p>
        </p:txBody>
      </p:sp>
      <p:sp>
        <p:nvSpPr>
          <p:cNvPr id="9" name="TextBox 8">
            <a:extLst>
              <a:ext uri="{FF2B5EF4-FFF2-40B4-BE49-F238E27FC236}">
                <a16:creationId xmlns:a16="http://schemas.microsoft.com/office/drawing/2014/main" id="{D877576C-F8D0-F5A4-0961-8C2632B033C5}"/>
              </a:ext>
            </a:extLst>
          </p:cNvPr>
          <p:cNvSpPr txBox="1"/>
          <p:nvPr/>
        </p:nvSpPr>
        <p:spPr>
          <a:xfrm>
            <a:off x="2821820" y="5866481"/>
            <a:ext cx="402674" cy="246221"/>
          </a:xfrm>
          <a:prstGeom prst="rect">
            <a:avLst/>
          </a:prstGeom>
          <a:solidFill>
            <a:schemeClr val="bg1"/>
          </a:solidFill>
        </p:spPr>
        <p:txBody>
          <a:bodyPr wrap="none" rtlCol="0">
            <a:spAutoFit/>
          </a:bodyPr>
          <a:lstStyle/>
          <a:p>
            <a:r>
              <a:rPr lang="en-US" sz="1000" b="1" dirty="0"/>
              <a:t>Cart</a:t>
            </a:r>
            <a:endParaRPr lang="en-US" sz="1100" b="1" dirty="0"/>
          </a:p>
        </p:txBody>
      </p:sp>
      <p:pic>
        <p:nvPicPr>
          <p:cNvPr id="11" name="Picture 10" descr="A screenshot of a computer&#10;&#10;Description automatically generated">
            <a:extLst>
              <a:ext uri="{FF2B5EF4-FFF2-40B4-BE49-F238E27FC236}">
                <a16:creationId xmlns:a16="http://schemas.microsoft.com/office/drawing/2014/main" id="{46EB3626-9EEE-7254-875C-5DE5BDB78278}"/>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244907" y="886858"/>
            <a:ext cx="2445743" cy="4814371"/>
          </a:xfrm>
          <a:prstGeom prst="rect">
            <a:avLst/>
          </a:prstGeom>
        </p:spPr>
      </p:pic>
      <p:sp>
        <p:nvSpPr>
          <p:cNvPr id="12" name="TextBox 11">
            <a:extLst>
              <a:ext uri="{FF2B5EF4-FFF2-40B4-BE49-F238E27FC236}">
                <a16:creationId xmlns:a16="http://schemas.microsoft.com/office/drawing/2014/main" id="{90D54D80-34AA-DCEB-FFC4-9EA29CDDD632}"/>
              </a:ext>
            </a:extLst>
          </p:cNvPr>
          <p:cNvSpPr txBox="1"/>
          <p:nvPr/>
        </p:nvSpPr>
        <p:spPr>
          <a:xfrm>
            <a:off x="4047650" y="1690688"/>
            <a:ext cx="8004063" cy="1569660"/>
          </a:xfrm>
          <a:prstGeom prst="rect">
            <a:avLst/>
          </a:prstGeom>
          <a:noFill/>
        </p:spPr>
        <p:txBody>
          <a:bodyPr wrap="square" rtlCol="0">
            <a:spAutoFit/>
          </a:bodyPr>
          <a:lstStyle/>
          <a:p>
            <a:r>
              <a:rPr lang="en-US" sz="1600" dirty="0"/>
              <a:t>A Live Call from a Health Coach will happen in what appears to be randomly to the dieter.  </a:t>
            </a:r>
          </a:p>
          <a:p>
            <a:endParaRPr lang="en-US" sz="1600" dirty="0"/>
          </a:p>
          <a:p>
            <a:r>
              <a:rPr lang="en-US" sz="1600" dirty="0"/>
              <a:t>In reality, the direct call will happen when a Health Coach is available and prompted to respond to Help call.   We will employ Health Coaches to help Humanaut clients with their nutrition needs.  When not actively engaged in other activities, and when their status is Available, the coaches will be put in a rotation to respond to Help requests.</a:t>
            </a:r>
          </a:p>
        </p:txBody>
      </p:sp>
    </p:spTree>
    <p:extLst>
      <p:ext uri="{BB962C8B-B14F-4D97-AF65-F5344CB8AC3E}">
        <p14:creationId xmlns:p14="http://schemas.microsoft.com/office/powerpoint/2010/main" val="9004634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AE4A0BA-8C93-A8DD-F61B-AECB1982A8A6}"/>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939113" y="534824"/>
            <a:ext cx="3089190" cy="5980352"/>
          </a:xfrm>
          <a:prstGeom prst="rect">
            <a:avLst/>
          </a:prstGeom>
        </p:spPr>
      </p:pic>
      <p:sp>
        <p:nvSpPr>
          <p:cNvPr id="2" name="Title 1">
            <a:extLst>
              <a:ext uri="{FF2B5EF4-FFF2-40B4-BE49-F238E27FC236}">
                <a16:creationId xmlns:a16="http://schemas.microsoft.com/office/drawing/2014/main" id="{4090A479-3B57-60E3-1CA2-D70BEFFA1479}"/>
              </a:ext>
            </a:extLst>
          </p:cNvPr>
          <p:cNvSpPr>
            <a:spLocks noGrp="1"/>
          </p:cNvSpPr>
          <p:nvPr>
            <p:ph type="title"/>
          </p:nvPr>
        </p:nvSpPr>
        <p:spPr>
          <a:xfrm>
            <a:off x="4406746" y="365125"/>
            <a:ext cx="7404254" cy="1325563"/>
          </a:xfrm>
        </p:spPr>
        <p:txBody>
          <a:bodyPr>
            <a:normAutofit fontScale="90000"/>
          </a:bodyPr>
          <a:lstStyle/>
          <a:p>
            <a:pPr algn="ctr"/>
            <a:r>
              <a:rPr lang="en-US" sz="4400" dirty="0"/>
              <a:t>Help! I’m About To Go Off the Rails</a:t>
            </a:r>
            <a:br>
              <a:rPr lang="en-US" dirty="0"/>
            </a:br>
            <a:r>
              <a:rPr lang="en-US" dirty="0"/>
              <a:t>Direct call from a loved one</a:t>
            </a:r>
          </a:p>
        </p:txBody>
      </p:sp>
      <p:sp>
        <p:nvSpPr>
          <p:cNvPr id="5" name="TextBox 4">
            <a:extLst>
              <a:ext uri="{FF2B5EF4-FFF2-40B4-BE49-F238E27FC236}">
                <a16:creationId xmlns:a16="http://schemas.microsoft.com/office/drawing/2014/main" id="{49EF9105-9FEC-F147-F0E2-6BDD87EE1B71}"/>
              </a:ext>
            </a:extLst>
          </p:cNvPr>
          <p:cNvSpPr txBox="1"/>
          <p:nvPr/>
        </p:nvSpPr>
        <p:spPr>
          <a:xfrm>
            <a:off x="1255924" y="5866481"/>
            <a:ext cx="616944" cy="246221"/>
          </a:xfrm>
          <a:prstGeom prst="rect">
            <a:avLst/>
          </a:prstGeom>
          <a:noFill/>
        </p:spPr>
        <p:txBody>
          <a:bodyPr wrap="square" rtlCol="0">
            <a:spAutoFit/>
          </a:bodyPr>
          <a:lstStyle/>
          <a:p>
            <a:r>
              <a:rPr lang="en-US" sz="1000" b="1" dirty="0"/>
              <a:t>Account</a:t>
            </a:r>
          </a:p>
        </p:txBody>
      </p:sp>
      <p:sp>
        <p:nvSpPr>
          <p:cNvPr id="6" name="TextBox 5">
            <a:extLst>
              <a:ext uri="{FF2B5EF4-FFF2-40B4-BE49-F238E27FC236}">
                <a16:creationId xmlns:a16="http://schemas.microsoft.com/office/drawing/2014/main" id="{71D52CBA-97CB-9CA3-7086-35CE0511D182}"/>
              </a:ext>
            </a:extLst>
          </p:cNvPr>
          <p:cNvSpPr txBox="1"/>
          <p:nvPr/>
        </p:nvSpPr>
        <p:spPr>
          <a:xfrm>
            <a:off x="1824021" y="5866481"/>
            <a:ext cx="590226" cy="246221"/>
          </a:xfrm>
          <a:prstGeom prst="rect">
            <a:avLst/>
          </a:prstGeom>
          <a:noFill/>
        </p:spPr>
        <p:txBody>
          <a:bodyPr wrap="none" rtlCol="0">
            <a:spAutoFit/>
          </a:bodyPr>
          <a:lstStyle/>
          <a:p>
            <a:r>
              <a:rPr lang="en-US" sz="1000" b="1" dirty="0"/>
              <a:t>Activity</a:t>
            </a:r>
            <a:endParaRPr lang="en-US" sz="1100" b="1" dirty="0"/>
          </a:p>
        </p:txBody>
      </p:sp>
      <p:sp>
        <p:nvSpPr>
          <p:cNvPr id="7" name="TextBox 6">
            <a:extLst>
              <a:ext uri="{FF2B5EF4-FFF2-40B4-BE49-F238E27FC236}">
                <a16:creationId xmlns:a16="http://schemas.microsoft.com/office/drawing/2014/main" id="{B01F81FC-AC30-BBB2-384C-B8D6C43DDDAC}"/>
              </a:ext>
            </a:extLst>
          </p:cNvPr>
          <p:cNvSpPr txBox="1"/>
          <p:nvPr/>
        </p:nvSpPr>
        <p:spPr>
          <a:xfrm>
            <a:off x="2347767" y="5866481"/>
            <a:ext cx="535724" cy="246221"/>
          </a:xfrm>
          <a:prstGeom prst="rect">
            <a:avLst/>
          </a:prstGeom>
          <a:noFill/>
        </p:spPr>
        <p:txBody>
          <a:bodyPr wrap="none" rtlCol="0">
            <a:spAutoFit/>
          </a:bodyPr>
          <a:lstStyle/>
          <a:p>
            <a:r>
              <a:rPr lang="en-US" sz="1000" b="1" dirty="0"/>
              <a:t>Profile</a:t>
            </a:r>
            <a:endParaRPr lang="en-US" sz="1100" b="1" dirty="0"/>
          </a:p>
        </p:txBody>
      </p:sp>
      <p:sp>
        <p:nvSpPr>
          <p:cNvPr id="8" name="TextBox 7">
            <a:extLst>
              <a:ext uri="{FF2B5EF4-FFF2-40B4-BE49-F238E27FC236}">
                <a16:creationId xmlns:a16="http://schemas.microsoft.com/office/drawing/2014/main" id="{576D7BAD-CB3B-4167-A595-11FFA79C2769}"/>
              </a:ext>
            </a:extLst>
          </p:cNvPr>
          <p:cNvSpPr txBox="1"/>
          <p:nvPr/>
        </p:nvSpPr>
        <p:spPr>
          <a:xfrm>
            <a:off x="3175645" y="5866481"/>
            <a:ext cx="470000" cy="246221"/>
          </a:xfrm>
          <a:prstGeom prst="rect">
            <a:avLst/>
          </a:prstGeom>
          <a:solidFill>
            <a:schemeClr val="bg1"/>
          </a:solidFill>
        </p:spPr>
        <p:txBody>
          <a:bodyPr wrap="none" rtlCol="0">
            <a:spAutoFit/>
          </a:bodyPr>
          <a:lstStyle/>
          <a:p>
            <a:r>
              <a:rPr lang="en-US" sz="1000" b="1" dirty="0"/>
              <a:t>Panic</a:t>
            </a:r>
            <a:endParaRPr lang="en-US" sz="1100" b="1" dirty="0"/>
          </a:p>
        </p:txBody>
      </p:sp>
      <p:sp>
        <p:nvSpPr>
          <p:cNvPr id="9" name="TextBox 8">
            <a:extLst>
              <a:ext uri="{FF2B5EF4-FFF2-40B4-BE49-F238E27FC236}">
                <a16:creationId xmlns:a16="http://schemas.microsoft.com/office/drawing/2014/main" id="{C7306F35-0B74-EB49-16E4-14CDDDAFECD3}"/>
              </a:ext>
            </a:extLst>
          </p:cNvPr>
          <p:cNvSpPr txBox="1"/>
          <p:nvPr/>
        </p:nvSpPr>
        <p:spPr>
          <a:xfrm>
            <a:off x="2821820" y="5866481"/>
            <a:ext cx="402674" cy="246221"/>
          </a:xfrm>
          <a:prstGeom prst="rect">
            <a:avLst/>
          </a:prstGeom>
          <a:solidFill>
            <a:schemeClr val="bg1"/>
          </a:solidFill>
        </p:spPr>
        <p:txBody>
          <a:bodyPr wrap="none" rtlCol="0">
            <a:spAutoFit/>
          </a:bodyPr>
          <a:lstStyle/>
          <a:p>
            <a:r>
              <a:rPr lang="en-US" sz="1000" b="1" dirty="0"/>
              <a:t>Cart</a:t>
            </a:r>
            <a:endParaRPr lang="en-US" sz="1100" b="1" dirty="0"/>
          </a:p>
        </p:txBody>
      </p:sp>
      <p:pic>
        <p:nvPicPr>
          <p:cNvPr id="15" name="Content Placeholder 14">
            <a:extLst>
              <a:ext uri="{FF2B5EF4-FFF2-40B4-BE49-F238E27FC236}">
                <a16:creationId xmlns:a16="http://schemas.microsoft.com/office/drawing/2014/main" id="{A1E90579-2028-5323-25E7-42AE11310998}"/>
              </a:ext>
            </a:extLst>
          </p:cNvPr>
          <p:cNvPicPr>
            <a:picLocks noGrp="1" noChangeAspect="1"/>
          </p:cNvPicPr>
          <p:nvPr>
            <p:ph idx="1"/>
          </p:nvPr>
        </p:nvPicPr>
        <p:blipFill rotWithShape="1">
          <a:blip r:embed="rId3" cstate="email">
            <a:extLst>
              <a:ext uri="{28A0092B-C50C-407E-A947-70E740481C1C}">
                <a14:useLocalDpi xmlns:a14="http://schemas.microsoft.com/office/drawing/2010/main"/>
              </a:ext>
            </a:extLst>
          </a:blip>
          <a:srcRect t="-515"/>
          <a:stretch/>
        </p:blipFill>
        <p:spPr>
          <a:xfrm>
            <a:off x="1255924" y="1082895"/>
            <a:ext cx="2434727" cy="4458590"/>
          </a:xfrm>
        </p:spPr>
      </p:pic>
      <p:sp>
        <p:nvSpPr>
          <p:cNvPr id="17" name="TextBox 16">
            <a:extLst>
              <a:ext uri="{FF2B5EF4-FFF2-40B4-BE49-F238E27FC236}">
                <a16:creationId xmlns:a16="http://schemas.microsoft.com/office/drawing/2014/main" id="{A28F33AB-4C72-F657-D2C6-CAD26BFF8AF3}"/>
              </a:ext>
            </a:extLst>
          </p:cNvPr>
          <p:cNvSpPr txBox="1"/>
          <p:nvPr/>
        </p:nvSpPr>
        <p:spPr>
          <a:xfrm>
            <a:off x="4047650" y="1690688"/>
            <a:ext cx="8004063" cy="2800767"/>
          </a:xfrm>
          <a:prstGeom prst="rect">
            <a:avLst/>
          </a:prstGeom>
          <a:noFill/>
        </p:spPr>
        <p:txBody>
          <a:bodyPr wrap="square" rtlCol="0">
            <a:spAutoFit/>
          </a:bodyPr>
          <a:lstStyle/>
          <a:p>
            <a:r>
              <a:rPr lang="en-US" sz="1600" dirty="0"/>
              <a:t>A Live Call from a Loved One will happen in what appears to be randomly to the dieter.  </a:t>
            </a:r>
          </a:p>
          <a:p>
            <a:endParaRPr lang="en-US" sz="1600" dirty="0"/>
          </a:p>
          <a:p>
            <a:r>
              <a:rPr lang="en-US" sz="1600" dirty="0"/>
              <a:t>In reality, any loved one that has opted in to be a part of a dieter’s SOS experience will be notified when a dieter has asked for help.  The loved one can opt to accept the request and do a live “Facetime” type call with the dieter.  The loved one can also refuse to accept the request and the SOS system will offer another type of motivation for the dieter.</a:t>
            </a:r>
          </a:p>
          <a:p>
            <a:endParaRPr lang="en-US" sz="1600" dirty="0"/>
          </a:p>
          <a:p>
            <a:r>
              <a:rPr lang="en-US" sz="1600" dirty="0"/>
              <a:t>The dieter can provide contact info for multiple loved ones.  They can also prioritize / sequence the order of loved ones to contact.  A loved one must accept Terms and Conditions to be part of SOS and can opt out at any time.</a:t>
            </a:r>
          </a:p>
          <a:p>
            <a:endParaRPr lang="en-US" sz="1600" dirty="0"/>
          </a:p>
        </p:txBody>
      </p:sp>
    </p:spTree>
    <p:extLst>
      <p:ext uri="{BB962C8B-B14F-4D97-AF65-F5344CB8AC3E}">
        <p14:creationId xmlns:p14="http://schemas.microsoft.com/office/powerpoint/2010/main" val="26819635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0A479-3B57-60E3-1CA2-D70BEFFA1479}"/>
              </a:ext>
            </a:extLst>
          </p:cNvPr>
          <p:cNvSpPr>
            <a:spLocks noGrp="1"/>
          </p:cNvSpPr>
          <p:nvPr>
            <p:ph type="title"/>
          </p:nvPr>
        </p:nvSpPr>
        <p:spPr>
          <a:xfrm>
            <a:off x="4406746" y="365125"/>
            <a:ext cx="7518554" cy="1325563"/>
          </a:xfrm>
        </p:spPr>
        <p:txBody>
          <a:bodyPr>
            <a:normAutofit fontScale="90000"/>
          </a:bodyPr>
          <a:lstStyle/>
          <a:p>
            <a:pPr algn="ctr"/>
            <a:r>
              <a:rPr lang="en-US" sz="4400" dirty="0"/>
              <a:t>Help! I’m About To Go Off the Rails</a:t>
            </a:r>
            <a:br>
              <a:rPr lang="en-US" dirty="0"/>
            </a:br>
            <a:r>
              <a:rPr lang="en-US" dirty="0"/>
              <a:t>Influencer Intervention</a:t>
            </a:r>
          </a:p>
        </p:txBody>
      </p:sp>
      <p:pic>
        <p:nvPicPr>
          <p:cNvPr id="4" name="Picture 3">
            <a:extLst>
              <a:ext uri="{FF2B5EF4-FFF2-40B4-BE49-F238E27FC236}">
                <a16:creationId xmlns:a16="http://schemas.microsoft.com/office/drawing/2014/main" id="{8AE4A0BA-8C93-A8DD-F61B-AECB1982A8A6}"/>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939113" y="534824"/>
            <a:ext cx="3089190" cy="5980352"/>
          </a:xfrm>
          <a:prstGeom prst="rect">
            <a:avLst/>
          </a:prstGeom>
        </p:spPr>
      </p:pic>
      <p:pic>
        <p:nvPicPr>
          <p:cNvPr id="11" name="Content Placeholder 10" descr="A screenshot of a computer&#10;&#10;Description automatically generated">
            <a:extLst>
              <a:ext uri="{FF2B5EF4-FFF2-40B4-BE49-F238E27FC236}">
                <a16:creationId xmlns:a16="http://schemas.microsoft.com/office/drawing/2014/main" id="{1CA9F818-304C-3DFB-D2E2-C333EE71C8EC}"/>
              </a:ext>
            </a:extLst>
          </p:cNvPr>
          <p:cNvPicPr>
            <a:picLocks noGrp="1" noChangeAspect="1"/>
          </p:cNvPicPr>
          <p:nvPr>
            <p:ph idx="1"/>
          </p:nvPr>
        </p:nvPicPr>
        <p:blipFill rotWithShape="1">
          <a:blip r:embed="rId3" cstate="email">
            <a:extLst>
              <a:ext uri="{28A0092B-C50C-407E-A947-70E740481C1C}">
                <a14:useLocalDpi xmlns:a14="http://schemas.microsoft.com/office/drawing/2010/main"/>
              </a:ext>
            </a:extLst>
          </a:blip>
          <a:srcRect/>
          <a:stretch/>
        </p:blipFill>
        <p:spPr>
          <a:xfrm>
            <a:off x="1255924" y="895262"/>
            <a:ext cx="2429218" cy="4830964"/>
          </a:xfrm>
        </p:spPr>
      </p:pic>
      <p:sp>
        <p:nvSpPr>
          <p:cNvPr id="5" name="TextBox 4">
            <a:extLst>
              <a:ext uri="{FF2B5EF4-FFF2-40B4-BE49-F238E27FC236}">
                <a16:creationId xmlns:a16="http://schemas.microsoft.com/office/drawing/2014/main" id="{49EF9105-9FEC-F147-F0E2-6BDD87EE1B71}"/>
              </a:ext>
            </a:extLst>
          </p:cNvPr>
          <p:cNvSpPr txBox="1"/>
          <p:nvPr/>
        </p:nvSpPr>
        <p:spPr>
          <a:xfrm>
            <a:off x="1255924" y="5866481"/>
            <a:ext cx="616944" cy="246221"/>
          </a:xfrm>
          <a:prstGeom prst="rect">
            <a:avLst/>
          </a:prstGeom>
          <a:noFill/>
        </p:spPr>
        <p:txBody>
          <a:bodyPr wrap="square" rtlCol="0">
            <a:spAutoFit/>
          </a:bodyPr>
          <a:lstStyle/>
          <a:p>
            <a:r>
              <a:rPr lang="en-US" sz="1000" b="1" dirty="0"/>
              <a:t>Account</a:t>
            </a:r>
          </a:p>
        </p:txBody>
      </p:sp>
      <p:sp>
        <p:nvSpPr>
          <p:cNvPr id="6" name="TextBox 5">
            <a:extLst>
              <a:ext uri="{FF2B5EF4-FFF2-40B4-BE49-F238E27FC236}">
                <a16:creationId xmlns:a16="http://schemas.microsoft.com/office/drawing/2014/main" id="{71D52CBA-97CB-9CA3-7086-35CE0511D182}"/>
              </a:ext>
            </a:extLst>
          </p:cNvPr>
          <p:cNvSpPr txBox="1"/>
          <p:nvPr/>
        </p:nvSpPr>
        <p:spPr>
          <a:xfrm>
            <a:off x="1824021" y="5866481"/>
            <a:ext cx="590226" cy="246221"/>
          </a:xfrm>
          <a:prstGeom prst="rect">
            <a:avLst/>
          </a:prstGeom>
          <a:noFill/>
        </p:spPr>
        <p:txBody>
          <a:bodyPr wrap="none" rtlCol="0">
            <a:spAutoFit/>
          </a:bodyPr>
          <a:lstStyle/>
          <a:p>
            <a:r>
              <a:rPr lang="en-US" sz="1000" b="1" dirty="0"/>
              <a:t>Activity</a:t>
            </a:r>
            <a:endParaRPr lang="en-US" sz="1100" b="1" dirty="0"/>
          </a:p>
        </p:txBody>
      </p:sp>
      <p:sp>
        <p:nvSpPr>
          <p:cNvPr id="7" name="TextBox 6">
            <a:extLst>
              <a:ext uri="{FF2B5EF4-FFF2-40B4-BE49-F238E27FC236}">
                <a16:creationId xmlns:a16="http://schemas.microsoft.com/office/drawing/2014/main" id="{B01F81FC-AC30-BBB2-384C-B8D6C43DDDAC}"/>
              </a:ext>
            </a:extLst>
          </p:cNvPr>
          <p:cNvSpPr txBox="1"/>
          <p:nvPr/>
        </p:nvSpPr>
        <p:spPr>
          <a:xfrm>
            <a:off x="2347767" y="5866481"/>
            <a:ext cx="535724" cy="246221"/>
          </a:xfrm>
          <a:prstGeom prst="rect">
            <a:avLst/>
          </a:prstGeom>
          <a:noFill/>
        </p:spPr>
        <p:txBody>
          <a:bodyPr wrap="none" rtlCol="0">
            <a:spAutoFit/>
          </a:bodyPr>
          <a:lstStyle/>
          <a:p>
            <a:r>
              <a:rPr lang="en-US" sz="1000" b="1" dirty="0"/>
              <a:t>Profile</a:t>
            </a:r>
            <a:endParaRPr lang="en-US" sz="1100" b="1" dirty="0"/>
          </a:p>
        </p:txBody>
      </p:sp>
      <p:sp>
        <p:nvSpPr>
          <p:cNvPr id="8" name="TextBox 7">
            <a:extLst>
              <a:ext uri="{FF2B5EF4-FFF2-40B4-BE49-F238E27FC236}">
                <a16:creationId xmlns:a16="http://schemas.microsoft.com/office/drawing/2014/main" id="{576D7BAD-CB3B-4167-A595-11FFA79C2769}"/>
              </a:ext>
            </a:extLst>
          </p:cNvPr>
          <p:cNvSpPr txBox="1"/>
          <p:nvPr/>
        </p:nvSpPr>
        <p:spPr>
          <a:xfrm>
            <a:off x="3175645" y="5866481"/>
            <a:ext cx="470000" cy="246221"/>
          </a:xfrm>
          <a:prstGeom prst="rect">
            <a:avLst/>
          </a:prstGeom>
          <a:solidFill>
            <a:schemeClr val="bg1"/>
          </a:solidFill>
        </p:spPr>
        <p:txBody>
          <a:bodyPr wrap="none" rtlCol="0">
            <a:spAutoFit/>
          </a:bodyPr>
          <a:lstStyle/>
          <a:p>
            <a:r>
              <a:rPr lang="en-US" sz="1000" b="1" dirty="0"/>
              <a:t>Panic</a:t>
            </a:r>
            <a:endParaRPr lang="en-US" sz="1100" b="1" dirty="0"/>
          </a:p>
        </p:txBody>
      </p:sp>
      <p:sp>
        <p:nvSpPr>
          <p:cNvPr id="9" name="TextBox 8">
            <a:extLst>
              <a:ext uri="{FF2B5EF4-FFF2-40B4-BE49-F238E27FC236}">
                <a16:creationId xmlns:a16="http://schemas.microsoft.com/office/drawing/2014/main" id="{C7306F35-0B74-EB49-16E4-14CDDDAFECD3}"/>
              </a:ext>
            </a:extLst>
          </p:cNvPr>
          <p:cNvSpPr txBox="1"/>
          <p:nvPr/>
        </p:nvSpPr>
        <p:spPr>
          <a:xfrm>
            <a:off x="2821820" y="5866481"/>
            <a:ext cx="402674" cy="246221"/>
          </a:xfrm>
          <a:prstGeom prst="rect">
            <a:avLst/>
          </a:prstGeom>
          <a:solidFill>
            <a:schemeClr val="bg1"/>
          </a:solidFill>
        </p:spPr>
        <p:txBody>
          <a:bodyPr wrap="none" rtlCol="0">
            <a:spAutoFit/>
          </a:bodyPr>
          <a:lstStyle/>
          <a:p>
            <a:r>
              <a:rPr lang="en-US" sz="1000" b="1" dirty="0"/>
              <a:t>Cart</a:t>
            </a:r>
            <a:endParaRPr lang="en-US" sz="1100" b="1" dirty="0"/>
          </a:p>
        </p:txBody>
      </p:sp>
      <p:sp>
        <p:nvSpPr>
          <p:cNvPr id="12" name="TextBox 11">
            <a:extLst>
              <a:ext uri="{FF2B5EF4-FFF2-40B4-BE49-F238E27FC236}">
                <a16:creationId xmlns:a16="http://schemas.microsoft.com/office/drawing/2014/main" id="{CE0C6493-E32B-64AD-5C6B-97D9674C2A19}"/>
              </a:ext>
            </a:extLst>
          </p:cNvPr>
          <p:cNvSpPr txBox="1"/>
          <p:nvPr/>
        </p:nvSpPr>
        <p:spPr>
          <a:xfrm>
            <a:off x="1564396" y="4181400"/>
            <a:ext cx="1933461" cy="1169551"/>
          </a:xfrm>
          <a:prstGeom prst="rect">
            <a:avLst/>
          </a:prstGeom>
          <a:solidFill>
            <a:schemeClr val="bg1"/>
          </a:solidFill>
        </p:spPr>
        <p:txBody>
          <a:bodyPr wrap="square" rtlCol="0">
            <a:spAutoFit/>
          </a:bodyPr>
          <a:lstStyle/>
          <a:p>
            <a:r>
              <a:rPr lang="en-US" sz="1400" b="0" i="0" u="none" strike="noStrike" dirty="0">
                <a:solidFill>
                  <a:srgbClr val="4B4F58"/>
                </a:solidFill>
                <a:effectLst/>
                <a:latin typeface="Poppins" pitchFamily="2" charset="77"/>
              </a:rPr>
              <a:t>Nobody cares what you did yesterday. What have you done today to better yourself?</a:t>
            </a:r>
            <a:endParaRPr lang="en-US" sz="1400" dirty="0"/>
          </a:p>
        </p:txBody>
      </p:sp>
      <p:sp>
        <p:nvSpPr>
          <p:cNvPr id="27" name="TextBox 26">
            <a:extLst>
              <a:ext uri="{FF2B5EF4-FFF2-40B4-BE49-F238E27FC236}">
                <a16:creationId xmlns:a16="http://schemas.microsoft.com/office/drawing/2014/main" id="{F656C82D-E4AC-79F0-8F57-E277188AF0F2}"/>
              </a:ext>
            </a:extLst>
          </p:cNvPr>
          <p:cNvSpPr txBox="1"/>
          <p:nvPr/>
        </p:nvSpPr>
        <p:spPr>
          <a:xfrm>
            <a:off x="4189160" y="1901822"/>
            <a:ext cx="7380540" cy="4616648"/>
          </a:xfrm>
          <a:prstGeom prst="rect">
            <a:avLst/>
          </a:prstGeom>
          <a:noFill/>
        </p:spPr>
        <p:txBody>
          <a:bodyPr wrap="square">
            <a:spAutoFit/>
          </a:bodyPr>
          <a:lstStyle/>
          <a:p>
            <a:r>
              <a:rPr lang="en-US" sz="1400" b="1" i="0" u="none" strike="noStrike" dirty="0">
                <a:solidFill>
                  <a:srgbClr val="4B4F58"/>
                </a:solidFill>
                <a:effectLst/>
              </a:rPr>
              <a:t>TYPE A / Hard Charger Dieter:  David Goggins Message</a:t>
            </a:r>
          </a:p>
          <a:p>
            <a:endParaRPr lang="en-US" sz="1400" b="1" dirty="0">
              <a:solidFill>
                <a:srgbClr val="4B4F58"/>
              </a:solidFill>
            </a:endParaRPr>
          </a:p>
          <a:p>
            <a:r>
              <a:rPr lang="en-US" sz="1400" b="1" i="0" u="none" strike="noStrike" dirty="0">
                <a:solidFill>
                  <a:srgbClr val="4B4F58"/>
                </a:solidFill>
                <a:effectLst/>
              </a:rPr>
              <a:t>Theme:  Don’t be a wimp.  Stay hard.  Hard Things lead to great results.  You can do this.</a:t>
            </a:r>
          </a:p>
          <a:p>
            <a:endParaRPr lang="en-US" sz="1400" dirty="0">
              <a:solidFill>
                <a:srgbClr val="4B4F58"/>
              </a:solidFill>
            </a:endParaRPr>
          </a:p>
          <a:p>
            <a:r>
              <a:rPr lang="en-US" sz="1400" b="1" i="1" dirty="0">
                <a:solidFill>
                  <a:srgbClr val="4B4F58"/>
                </a:solidFill>
              </a:rPr>
              <a:t>Message could rotate:</a:t>
            </a:r>
          </a:p>
          <a:p>
            <a:endParaRPr lang="en-US" sz="1400" dirty="0">
              <a:solidFill>
                <a:srgbClr val="4B4F58"/>
              </a:solidFill>
            </a:endParaRPr>
          </a:p>
          <a:p>
            <a:r>
              <a:rPr lang="en-US" sz="1400" b="0" i="0" u="none" strike="noStrike" dirty="0">
                <a:solidFill>
                  <a:srgbClr val="4B4F58"/>
                </a:solidFill>
                <a:effectLst/>
              </a:rPr>
              <a:t>“A warrior is a guy that goes, I’m here again today. I’ll be here again tomorrow and the next day. It’s a person who puts no limit on what’s possible.”</a:t>
            </a:r>
          </a:p>
          <a:p>
            <a:endParaRPr lang="en-US" sz="1400" dirty="0">
              <a:solidFill>
                <a:srgbClr val="4B4F58"/>
              </a:solidFill>
            </a:endParaRPr>
          </a:p>
          <a:p>
            <a:r>
              <a:rPr lang="en-US" sz="1400" b="1" dirty="0">
                <a:solidFill>
                  <a:srgbClr val="4B4F58"/>
                </a:solidFill>
              </a:rPr>
              <a:t>“When you think that you are done, you’re only 40% into what your body’s capable of doing. That’s just the limits that we put on ourselves.”</a:t>
            </a:r>
          </a:p>
          <a:p>
            <a:endParaRPr lang="en-US" sz="1400" dirty="0">
              <a:solidFill>
                <a:srgbClr val="4B4F58"/>
              </a:solidFill>
            </a:endParaRPr>
          </a:p>
          <a:p>
            <a:r>
              <a:rPr lang="en-US" sz="1400" dirty="0">
                <a:solidFill>
                  <a:srgbClr val="4B4F58"/>
                </a:solidFill>
              </a:rPr>
              <a:t>“You gotta start your journey. It may suck, but eventually you will come out the other side on top.”</a:t>
            </a:r>
          </a:p>
          <a:p>
            <a:endParaRPr lang="en-US" sz="1400" dirty="0">
              <a:solidFill>
                <a:srgbClr val="4B4F58"/>
              </a:solidFill>
            </a:endParaRPr>
          </a:p>
          <a:p>
            <a:r>
              <a:rPr lang="en-US" sz="1400" b="1" dirty="0">
                <a:solidFill>
                  <a:srgbClr val="4B4F58"/>
                </a:solidFill>
              </a:rPr>
              <a:t>“I don’t stop when I’m tired, I stop when I’m done.”</a:t>
            </a:r>
          </a:p>
          <a:p>
            <a:endParaRPr lang="en-US" sz="1400" dirty="0">
              <a:solidFill>
                <a:srgbClr val="4B4F58"/>
              </a:solidFill>
            </a:endParaRPr>
          </a:p>
          <a:p>
            <a:r>
              <a:rPr lang="en-US" sz="1400" dirty="0">
                <a:solidFill>
                  <a:srgbClr val="4B4F58"/>
                </a:solidFill>
              </a:rPr>
              <a:t>“If you can get through doing things that you hate to do, on the other side is greatness.”</a:t>
            </a:r>
          </a:p>
          <a:p>
            <a:endParaRPr lang="en-US" sz="1400" dirty="0">
              <a:solidFill>
                <a:srgbClr val="4B4F58"/>
              </a:solidFill>
            </a:endParaRPr>
          </a:p>
          <a:p>
            <a:r>
              <a:rPr lang="en-US" sz="1400" b="1" dirty="0">
                <a:solidFill>
                  <a:srgbClr val="4B4F58"/>
                </a:solidFill>
              </a:rPr>
              <a:t>“The only thing more contagious than a good attitude is a bad one.”</a:t>
            </a:r>
          </a:p>
          <a:p>
            <a:endParaRPr lang="en-US" sz="1400" dirty="0">
              <a:solidFill>
                <a:srgbClr val="4B4F58"/>
              </a:solidFill>
            </a:endParaRPr>
          </a:p>
          <a:p>
            <a:r>
              <a:rPr lang="en-US" sz="1400" dirty="0">
                <a:solidFill>
                  <a:srgbClr val="4B4F58"/>
                </a:solidFill>
              </a:rPr>
              <a:t>“You may lose the battle of the morning but don’t lose the war of the day.”</a:t>
            </a:r>
          </a:p>
        </p:txBody>
      </p:sp>
    </p:spTree>
    <p:extLst>
      <p:ext uri="{BB962C8B-B14F-4D97-AF65-F5344CB8AC3E}">
        <p14:creationId xmlns:p14="http://schemas.microsoft.com/office/powerpoint/2010/main" val="28314374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0A479-3B57-60E3-1CA2-D70BEFFA1479}"/>
              </a:ext>
            </a:extLst>
          </p:cNvPr>
          <p:cNvSpPr>
            <a:spLocks noGrp="1"/>
          </p:cNvSpPr>
          <p:nvPr>
            <p:ph type="title"/>
          </p:nvPr>
        </p:nvSpPr>
        <p:spPr>
          <a:xfrm>
            <a:off x="4043461" y="169859"/>
            <a:ext cx="7785254" cy="1325563"/>
          </a:xfrm>
        </p:spPr>
        <p:txBody>
          <a:bodyPr>
            <a:normAutofit fontScale="90000"/>
          </a:bodyPr>
          <a:lstStyle/>
          <a:p>
            <a:pPr algn="ctr"/>
            <a:r>
              <a:rPr lang="en-US" sz="4400" dirty="0"/>
              <a:t>Help! I’m About To Go Off the Rails</a:t>
            </a:r>
            <a:br>
              <a:rPr lang="en-US" dirty="0"/>
            </a:br>
            <a:r>
              <a:rPr lang="en-US" dirty="0"/>
              <a:t>Influencer Intervention</a:t>
            </a:r>
          </a:p>
        </p:txBody>
      </p:sp>
      <p:pic>
        <p:nvPicPr>
          <p:cNvPr id="4" name="Picture 3">
            <a:extLst>
              <a:ext uri="{FF2B5EF4-FFF2-40B4-BE49-F238E27FC236}">
                <a16:creationId xmlns:a16="http://schemas.microsoft.com/office/drawing/2014/main" id="{8AE4A0BA-8C93-A8DD-F61B-AECB1982A8A6}"/>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939113" y="534824"/>
            <a:ext cx="3089190" cy="5980352"/>
          </a:xfrm>
          <a:prstGeom prst="rect">
            <a:avLst/>
          </a:prstGeom>
        </p:spPr>
      </p:pic>
      <p:sp>
        <p:nvSpPr>
          <p:cNvPr id="5" name="TextBox 4">
            <a:extLst>
              <a:ext uri="{FF2B5EF4-FFF2-40B4-BE49-F238E27FC236}">
                <a16:creationId xmlns:a16="http://schemas.microsoft.com/office/drawing/2014/main" id="{49EF9105-9FEC-F147-F0E2-6BDD87EE1B71}"/>
              </a:ext>
            </a:extLst>
          </p:cNvPr>
          <p:cNvSpPr txBox="1"/>
          <p:nvPr/>
        </p:nvSpPr>
        <p:spPr>
          <a:xfrm>
            <a:off x="1255924" y="5866481"/>
            <a:ext cx="616944" cy="246221"/>
          </a:xfrm>
          <a:prstGeom prst="rect">
            <a:avLst/>
          </a:prstGeom>
          <a:noFill/>
        </p:spPr>
        <p:txBody>
          <a:bodyPr wrap="square" rtlCol="0">
            <a:spAutoFit/>
          </a:bodyPr>
          <a:lstStyle/>
          <a:p>
            <a:r>
              <a:rPr lang="en-US" sz="1000" b="1" dirty="0"/>
              <a:t>Account</a:t>
            </a:r>
          </a:p>
        </p:txBody>
      </p:sp>
      <p:sp>
        <p:nvSpPr>
          <p:cNvPr id="6" name="TextBox 5">
            <a:extLst>
              <a:ext uri="{FF2B5EF4-FFF2-40B4-BE49-F238E27FC236}">
                <a16:creationId xmlns:a16="http://schemas.microsoft.com/office/drawing/2014/main" id="{71D52CBA-97CB-9CA3-7086-35CE0511D182}"/>
              </a:ext>
            </a:extLst>
          </p:cNvPr>
          <p:cNvSpPr txBox="1"/>
          <p:nvPr/>
        </p:nvSpPr>
        <p:spPr>
          <a:xfrm>
            <a:off x="1824021" y="5866481"/>
            <a:ext cx="590226" cy="246221"/>
          </a:xfrm>
          <a:prstGeom prst="rect">
            <a:avLst/>
          </a:prstGeom>
          <a:noFill/>
        </p:spPr>
        <p:txBody>
          <a:bodyPr wrap="none" rtlCol="0">
            <a:spAutoFit/>
          </a:bodyPr>
          <a:lstStyle/>
          <a:p>
            <a:r>
              <a:rPr lang="en-US" sz="1000" b="1" dirty="0"/>
              <a:t>Activity</a:t>
            </a:r>
            <a:endParaRPr lang="en-US" sz="1100" b="1" dirty="0"/>
          </a:p>
        </p:txBody>
      </p:sp>
      <p:sp>
        <p:nvSpPr>
          <p:cNvPr id="7" name="TextBox 6">
            <a:extLst>
              <a:ext uri="{FF2B5EF4-FFF2-40B4-BE49-F238E27FC236}">
                <a16:creationId xmlns:a16="http://schemas.microsoft.com/office/drawing/2014/main" id="{B01F81FC-AC30-BBB2-384C-B8D6C43DDDAC}"/>
              </a:ext>
            </a:extLst>
          </p:cNvPr>
          <p:cNvSpPr txBox="1"/>
          <p:nvPr/>
        </p:nvSpPr>
        <p:spPr>
          <a:xfrm>
            <a:off x="2347767" y="5866481"/>
            <a:ext cx="535724" cy="246221"/>
          </a:xfrm>
          <a:prstGeom prst="rect">
            <a:avLst/>
          </a:prstGeom>
          <a:noFill/>
        </p:spPr>
        <p:txBody>
          <a:bodyPr wrap="none" rtlCol="0">
            <a:spAutoFit/>
          </a:bodyPr>
          <a:lstStyle/>
          <a:p>
            <a:r>
              <a:rPr lang="en-US" sz="1000" b="1" dirty="0"/>
              <a:t>Profile</a:t>
            </a:r>
            <a:endParaRPr lang="en-US" sz="1100" b="1" dirty="0"/>
          </a:p>
        </p:txBody>
      </p:sp>
      <p:sp>
        <p:nvSpPr>
          <p:cNvPr id="8" name="TextBox 7">
            <a:extLst>
              <a:ext uri="{FF2B5EF4-FFF2-40B4-BE49-F238E27FC236}">
                <a16:creationId xmlns:a16="http://schemas.microsoft.com/office/drawing/2014/main" id="{576D7BAD-CB3B-4167-A595-11FFA79C2769}"/>
              </a:ext>
            </a:extLst>
          </p:cNvPr>
          <p:cNvSpPr txBox="1"/>
          <p:nvPr/>
        </p:nvSpPr>
        <p:spPr>
          <a:xfrm>
            <a:off x="3175645" y="5866481"/>
            <a:ext cx="470000" cy="246221"/>
          </a:xfrm>
          <a:prstGeom prst="rect">
            <a:avLst/>
          </a:prstGeom>
          <a:solidFill>
            <a:schemeClr val="bg1"/>
          </a:solidFill>
        </p:spPr>
        <p:txBody>
          <a:bodyPr wrap="none" rtlCol="0">
            <a:spAutoFit/>
          </a:bodyPr>
          <a:lstStyle/>
          <a:p>
            <a:r>
              <a:rPr lang="en-US" sz="1000" b="1" dirty="0"/>
              <a:t>Panic</a:t>
            </a:r>
            <a:endParaRPr lang="en-US" sz="1100" b="1" dirty="0"/>
          </a:p>
        </p:txBody>
      </p:sp>
      <p:sp>
        <p:nvSpPr>
          <p:cNvPr id="9" name="TextBox 8">
            <a:extLst>
              <a:ext uri="{FF2B5EF4-FFF2-40B4-BE49-F238E27FC236}">
                <a16:creationId xmlns:a16="http://schemas.microsoft.com/office/drawing/2014/main" id="{C7306F35-0B74-EB49-16E4-14CDDDAFECD3}"/>
              </a:ext>
            </a:extLst>
          </p:cNvPr>
          <p:cNvSpPr txBox="1"/>
          <p:nvPr/>
        </p:nvSpPr>
        <p:spPr>
          <a:xfrm>
            <a:off x="2821820" y="5866481"/>
            <a:ext cx="402674" cy="246221"/>
          </a:xfrm>
          <a:prstGeom prst="rect">
            <a:avLst/>
          </a:prstGeom>
          <a:solidFill>
            <a:schemeClr val="bg1"/>
          </a:solidFill>
        </p:spPr>
        <p:txBody>
          <a:bodyPr wrap="none" rtlCol="0">
            <a:spAutoFit/>
          </a:bodyPr>
          <a:lstStyle/>
          <a:p>
            <a:r>
              <a:rPr lang="en-US" sz="1000" b="1" dirty="0"/>
              <a:t>Cart</a:t>
            </a:r>
            <a:endParaRPr lang="en-US" sz="1100" b="1" dirty="0"/>
          </a:p>
        </p:txBody>
      </p:sp>
      <p:sp>
        <p:nvSpPr>
          <p:cNvPr id="12" name="TextBox 11">
            <a:extLst>
              <a:ext uri="{FF2B5EF4-FFF2-40B4-BE49-F238E27FC236}">
                <a16:creationId xmlns:a16="http://schemas.microsoft.com/office/drawing/2014/main" id="{CE0C6493-E32B-64AD-5C6B-97D9674C2A19}"/>
              </a:ext>
            </a:extLst>
          </p:cNvPr>
          <p:cNvSpPr txBox="1"/>
          <p:nvPr/>
        </p:nvSpPr>
        <p:spPr>
          <a:xfrm>
            <a:off x="1311594" y="3669426"/>
            <a:ext cx="2334051" cy="2032874"/>
          </a:xfrm>
          <a:prstGeom prst="rect">
            <a:avLst/>
          </a:prstGeom>
          <a:solidFill>
            <a:schemeClr val="bg1"/>
          </a:solidFill>
        </p:spPr>
        <p:txBody>
          <a:bodyPr wrap="square" rtlCol="0">
            <a:spAutoFit/>
          </a:bodyPr>
          <a:lstStyle/>
          <a:p>
            <a:r>
              <a:rPr lang="en-US" sz="1400" b="0" i="0" u="none" strike="noStrike" dirty="0">
                <a:effectLst/>
                <a:latin typeface="Limerick Serial"/>
              </a:rPr>
              <a:t>"After knee surgery, I started hiking and setting new distance goals each week. I could eventually hike three to five miles every day and a 10-mile straight-up hike on weekends," she says. "I felt stronger, more fit and more alive than I’d felt in years."</a:t>
            </a:r>
            <a:endParaRPr lang="en-US" sz="1400" dirty="0"/>
          </a:p>
        </p:txBody>
      </p:sp>
      <p:pic>
        <p:nvPicPr>
          <p:cNvPr id="15" name="Picture 14" descr="A screenshot of a computer&#10;&#10;Description automatically generated">
            <a:extLst>
              <a:ext uri="{FF2B5EF4-FFF2-40B4-BE49-F238E27FC236}">
                <a16:creationId xmlns:a16="http://schemas.microsoft.com/office/drawing/2014/main" id="{40479772-CB41-D4B3-B64D-72905F17A51B}"/>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311594" y="954352"/>
            <a:ext cx="2359386" cy="2582062"/>
          </a:xfrm>
          <a:prstGeom prst="rect">
            <a:avLst/>
          </a:prstGeom>
        </p:spPr>
      </p:pic>
      <p:sp>
        <p:nvSpPr>
          <p:cNvPr id="17" name="TextBox 16">
            <a:extLst>
              <a:ext uri="{FF2B5EF4-FFF2-40B4-BE49-F238E27FC236}">
                <a16:creationId xmlns:a16="http://schemas.microsoft.com/office/drawing/2014/main" id="{80ADEF82-157C-51BB-FA74-E7BC18C406C1}"/>
              </a:ext>
            </a:extLst>
          </p:cNvPr>
          <p:cNvSpPr txBox="1"/>
          <p:nvPr/>
        </p:nvSpPr>
        <p:spPr>
          <a:xfrm>
            <a:off x="4213742" y="1495422"/>
            <a:ext cx="7254358" cy="5262979"/>
          </a:xfrm>
          <a:prstGeom prst="rect">
            <a:avLst/>
          </a:prstGeom>
          <a:noFill/>
        </p:spPr>
        <p:txBody>
          <a:bodyPr wrap="square">
            <a:spAutoFit/>
          </a:bodyPr>
          <a:lstStyle/>
          <a:p>
            <a:r>
              <a:rPr lang="en-US" sz="1400" b="1" i="0" u="none" strike="noStrike" dirty="0">
                <a:solidFill>
                  <a:srgbClr val="4B4F58"/>
                </a:solidFill>
                <a:effectLst/>
              </a:rPr>
              <a:t>TYPE B / “More Empathetic Message” Dieter:  Oprah Winfrey Message</a:t>
            </a:r>
          </a:p>
          <a:p>
            <a:endParaRPr lang="en-US" sz="1400" b="1" dirty="0">
              <a:solidFill>
                <a:srgbClr val="4B4F58"/>
              </a:solidFill>
            </a:endParaRPr>
          </a:p>
          <a:p>
            <a:r>
              <a:rPr lang="en-US" sz="1400" b="1" i="0" u="none" strike="noStrike" dirty="0">
                <a:solidFill>
                  <a:srgbClr val="4B4F58"/>
                </a:solidFill>
                <a:effectLst/>
              </a:rPr>
              <a:t>Theme:  I did it.  It was hard.  You can do it too.</a:t>
            </a:r>
          </a:p>
          <a:p>
            <a:endParaRPr lang="en-US" sz="1400" dirty="0">
              <a:solidFill>
                <a:srgbClr val="4B4F58"/>
              </a:solidFill>
            </a:endParaRPr>
          </a:p>
          <a:p>
            <a:r>
              <a:rPr lang="en-US" sz="1400" b="1" i="1" dirty="0">
                <a:solidFill>
                  <a:srgbClr val="4B4F58"/>
                </a:solidFill>
              </a:rPr>
              <a:t>Message / Messenger could rotate:</a:t>
            </a:r>
          </a:p>
          <a:p>
            <a:endParaRPr lang="en-US" sz="1400" b="1" i="1" dirty="0">
              <a:solidFill>
                <a:srgbClr val="4B4F58"/>
              </a:solidFill>
            </a:endParaRPr>
          </a:p>
          <a:p>
            <a:r>
              <a:rPr lang="en-US" sz="1400" b="0" i="0" u="none" strike="noStrike" dirty="0">
                <a:solidFill>
                  <a:srgbClr val="000000"/>
                </a:solidFill>
                <a:effectLst/>
              </a:rPr>
              <a:t>“What I know for sure is this: The big secret in life is that there is no big secret. Whatever your goal for this year is, you can get there—as long as you're willing to be honest with yourself about the preparation and work involved. There are no back doors, no free rides. There's just you, this moment, and a choice.” – Oprah</a:t>
            </a:r>
            <a:endParaRPr lang="en-US" sz="1400" b="1" i="1" u="none" strike="noStrike" dirty="0">
              <a:solidFill>
                <a:srgbClr val="4B4F58"/>
              </a:solidFill>
              <a:effectLst/>
            </a:endParaRPr>
          </a:p>
          <a:p>
            <a:endParaRPr lang="en-US" sz="1400" b="1" i="1" dirty="0">
              <a:solidFill>
                <a:srgbClr val="4B4F58"/>
              </a:solidFill>
            </a:endParaRPr>
          </a:p>
          <a:p>
            <a:r>
              <a:rPr lang="en-US" sz="1400" b="1" i="1" dirty="0">
                <a:solidFill>
                  <a:srgbClr val="4B4F58"/>
                </a:solidFill>
              </a:rPr>
              <a:t>“I love my butter pecan ice cream, but I also love to work out. We all have our issues. Mine is arms and legs, keeping them tight and toned. It</a:t>
            </a:r>
          </a:p>
          <a:p>
            <a:r>
              <a:rPr lang="en-US" sz="1400" b="1" i="1" dirty="0">
                <a:solidFill>
                  <a:srgbClr val="4B4F58"/>
                </a:solidFill>
              </a:rPr>
              <a:t>takes work, believe me.”  Beyonce</a:t>
            </a:r>
          </a:p>
          <a:p>
            <a:endParaRPr lang="en-US" sz="1400" dirty="0">
              <a:solidFill>
                <a:srgbClr val="4B4F58"/>
              </a:solidFill>
            </a:endParaRPr>
          </a:p>
          <a:p>
            <a:r>
              <a:rPr lang="en-US" sz="1400" dirty="0">
                <a:solidFill>
                  <a:srgbClr val="4B4F58"/>
                </a:solidFill>
              </a:rPr>
              <a:t>“Sometimes I’ll just move around and dance around to kind of just sweat because I feel like r need to get things circulating. But I'm not hardcore</a:t>
            </a:r>
          </a:p>
          <a:p>
            <a:r>
              <a:rPr lang="en-US" sz="1400" dirty="0">
                <a:solidFill>
                  <a:srgbClr val="4B4F58"/>
                </a:solidFill>
              </a:rPr>
              <a:t>about it.” Kate Hudson</a:t>
            </a:r>
          </a:p>
          <a:p>
            <a:endParaRPr lang="en-US" sz="1400" dirty="0">
              <a:solidFill>
                <a:srgbClr val="4B4F58"/>
              </a:solidFill>
            </a:endParaRPr>
          </a:p>
          <a:p>
            <a:r>
              <a:rPr lang="en-US" sz="1400" b="1" i="0" u="none" strike="noStrike" dirty="0">
                <a:solidFill>
                  <a:srgbClr val="000000"/>
                </a:solidFill>
                <a:effectLst/>
              </a:rPr>
              <a:t>"Weight loss doesn't begin in the gym with a dumb bell; it starts in your head with a decision.”</a:t>
            </a:r>
            <a:r>
              <a:rPr lang="en-US" sz="1400" b="1" i="0" u="none" strike="noStrike" dirty="0">
                <a:solidFill>
                  <a:srgbClr val="4B4F58"/>
                </a:solidFill>
                <a:effectLst/>
              </a:rPr>
              <a:t> Toni Sorenson</a:t>
            </a:r>
          </a:p>
          <a:p>
            <a:endParaRPr lang="en-US" sz="1400" dirty="0">
              <a:solidFill>
                <a:srgbClr val="4B4F58"/>
              </a:solidFill>
            </a:endParaRPr>
          </a:p>
          <a:p>
            <a:r>
              <a:rPr lang="en-US" sz="1400" b="0" i="0" u="none" strike="noStrike" dirty="0">
                <a:solidFill>
                  <a:srgbClr val="000000"/>
                </a:solidFill>
                <a:effectLst/>
              </a:rPr>
              <a:t>"Fitness is like marriage, you can't cheat on it and expect it to work.”</a:t>
            </a:r>
            <a:r>
              <a:rPr lang="en-US" sz="1400" b="0" i="0" u="none" strike="noStrike" dirty="0">
                <a:solidFill>
                  <a:srgbClr val="4B4F58"/>
                </a:solidFill>
                <a:effectLst/>
              </a:rPr>
              <a:t> Bonnie Pfeister</a:t>
            </a:r>
            <a:endParaRPr lang="en-US" sz="1400" dirty="0">
              <a:solidFill>
                <a:srgbClr val="4B4F58"/>
              </a:solidFill>
            </a:endParaRPr>
          </a:p>
          <a:p>
            <a:endParaRPr lang="en-US" sz="1400" dirty="0">
              <a:solidFill>
                <a:srgbClr val="4B4F58"/>
              </a:solidFill>
            </a:endParaRPr>
          </a:p>
        </p:txBody>
      </p:sp>
    </p:spTree>
    <p:extLst>
      <p:ext uri="{BB962C8B-B14F-4D97-AF65-F5344CB8AC3E}">
        <p14:creationId xmlns:p14="http://schemas.microsoft.com/office/powerpoint/2010/main" val="39956238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0A479-3B57-60E3-1CA2-D70BEFFA1479}"/>
              </a:ext>
            </a:extLst>
          </p:cNvPr>
          <p:cNvSpPr>
            <a:spLocks noGrp="1"/>
          </p:cNvSpPr>
          <p:nvPr>
            <p:ph type="title"/>
          </p:nvPr>
        </p:nvSpPr>
        <p:spPr>
          <a:xfrm>
            <a:off x="4043461" y="169859"/>
            <a:ext cx="7785254" cy="1325563"/>
          </a:xfrm>
        </p:spPr>
        <p:txBody>
          <a:bodyPr>
            <a:normAutofit fontScale="90000"/>
          </a:bodyPr>
          <a:lstStyle/>
          <a:p>
            <a:pPr algn="ctr"/>
            <a:r>
              <a:rPr lang="en-US" sz="4400" dirty="0"/>
              <a:t>Help! I’m About To Go Off the Rails</a:t>
            </a:r>
            <a:br>
              <a:rPr lang="en-US" dirty="0"/>
            </a:br>
            <a:r>
              <a:rPr lang="en-US" dirty="0"/>
              <a:t>Journal Entries</a:t>
            </a:r>
          </a:p>
        </p:txBody>
      </p:sp>
      <p:pic>
        <p:nvPicPr>
          <p:cNvPr id="4" name="Picture 3">
            <a:extLst>
              <a:ext uri="{FF2B5EF4-FFF2-40B4-BE49-F238E27FC236}">
                <a16:creationId xmlns:a16="http://schemas.microsoft.com/office/drawing/2014/main" id="{8AE4A0BA-8C93-A8DD-F61B-AECB1982A8A6}"/>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939113" y="534824"/>
            <a:ext cx="3089190" cy="5980352"/>
          </a:xfrm>
          <a:prstGeom prst="rect">
            <a:avLst/>
          </a:prstGeom>
        </p:spPr>
      </p:pic>
      <p:sp>
        <p:nvSpPr>
          <p:cNvPr id="5" name="TextBox 4">
            <a:extLst>
              <a:ext uri="{FF2B5EF4-FFF2-40B4-BE49-F238E27FC236}">
                <a16:creationId xmlns:a16="http://schemas.microsoft.com/office/drawing/2014/main" id="{49EF9105-9FEC-F147-F0E2-6BDD87EE1B71}"/>
              </a:ext>
            </a:extLst>
          </p:cNvPr>
          <p:cNvSpPr txBox="1"/>
          <p:nvPr/>
        </p:nvSpPr>
        <p:spPr>
          <a:xfrm>
            <a:off x="1255924" y="5866481"/>
            <a:ext cx="616944" cy="246221"/>
          </a:xfrm>
          <a:prstGeom prst="rect">
            <a:avLst/>
          </a:prstGeom>
          <a:noFill/>
        </p:spPr>
        <p:txBody>
          <a:bodyPr wrap="square" rtlCol="0">
            <a:spAutoFit/>
          </a:bodyPr>
          <a:lstStyle/>
          <a:p>
            <a:r>
              <a:rPr lang="en-US" sz="1000" b="1" dirty="0"/>
              <a:t>Account</a:t>
            </a:r>
          </a:p>
        </p:txBody>
      </p:sp>
      <p:sp>
        <p:nvSpPr>
          <p:cNvPr id="6" name="TextBox 5">
            <a:extLst>
              <a:ext uri="{FF2B5EF4-FFF2-40B4-BE49-F238E27FC236}">
                <a16:creationId xmlns:a16="http://schemas.microsoft.com/office/drawing/2014/main" id="{71D52CBA-97CB-9CA3-7086-35CE0511D182}"/>
              </a:ext>
            </a:extLst>
          </p:cNvPr>
          <p:cNvSpPr txBox="1"/>
          <p:nvPr/>
        </p:nvSpPr>
        <p:spPr>
          <a:xfrm>
            <a:off x="1824021" y="5866481"/>
            <a:ext cx="590226" cy="246221"/>
          </a:xfrm>
          <a:prstGeom prst="rect">
            <a:avLst/>
          </a:prstGeom>
          <a:noFill/>
        </p:spPr>
        <p:txBody>
          <a:bodyPr wrap="none" rtlCol="0">
            <a:spAutoFit/>
          </a:bodyPr>
          <a:lstStyle/>
          <a:p>
            <a:r>
              <a:rPr lang="en-US" sz="1000" b="1" dirty="0"/>
              <a:t>Activity</a:t>
            </a:r>
            <a:endParaRPr lang="en-US" sz="1100" b="1" dirty="0"/>
          </a:p>
        </p:txBody>
      </p:sp>
      <p:sp>
        <p:nvSpPr>
          <p:cNvPr id="7" name="TextBox 6">
            <a:extLst>
              <a:ext uri="{FF2B5EF4-FFF2-40B4-BE49-F238E27FC236}">
                <a16:creationId xmlns:a16="http://schemas.microsoft.com/office/drawing/2014/main" id="{B01F81FC-AC30-BBB2-384C-B8D6C43DDDAC}"/>
              </a:ext>
            </a:extLst>
          </p:cNvPr>
          <p:cNvSpPr txBox="1"/>
          <p:nvPr/>
        </p:nvSpPr>
        <p:spPr>
          <a:xfrm>
            <a:off x="2347767" y="5866481"/>
            <a:ext cx="535724" cy="246221"/>
          </a:xfrm>
          <a:prstGeom prst="rect">
            <a:avLst/>
          </a:prstGeom>
          <a:noFill/>
        </p:spPr>
        <p:txBody>
          <a:bodyPr wrap="none" rtlCol="0">
            <a:spAutoFit/>
          </a:bodyPr>
          <a:lstStyle/>
          <a:p>
            <a:r>
              <a:rPr lang="en-US" sz="1000" b="1" dirty="0"/>
              <a:t>Profile</a:t>
            </a:r>
            <a:endParaRPr lang="en-US" sz="1100" b="1" dirty="0"/>
          </a:p>
        </p:txBody>
      </p:sp>
      <p:sp>
        <p:nvSpPr>
          <p:cNvPr id="8" name="TextBox 7">
            <a:extLst>
              <a:ext uri="{FF2B5EF4-FFF2-40B4-BE49-F238E27FC236}">
                <a16:creationId xmlns:a16="http://schemas.microsoft.com/office/drawing/2014/main" id="{576D7BAD-CB3B-4167-A595-11FFA79C2769}"/>
              </a:ext>
            </a:extLst>
          </p:cNvPr>
          <p:cNvSpPr txBox="1"/>
          <p:nvPr/>
        </p:nvSpPr>
        <p:spPr>
          <a:xfrm>
            <a:off x="3175645" y="5866481"/>
            <a:ext cx="470000" cy="246221"/>
          </a:xfrm>
          <a:prstGeom prst="rect">
            <a:avLst/>
          </a:prstGeom>
          <a:solidFill>
            <a:schemeClr val="bg1"/>
          </a:solidFill>
        </p:spPr>
        <p:txBody>
          <a:bodyPr wrap="none" rtlCol="0">
            <a:spAutoFit/>
          </a:bodyPr>
          <a:lstStyle/>
          <a:p>
            <a:r>
              <a:rPr lang="en-US" sz="1000" b="1" dirty="0"/>
              <a:t>Panic</a:t>
            </a:r>
            <a:endParaRPr lang="en-US" sz="1100" b="1" dirty="0"/>
          </a:p>
        </p:txBody>
      </p:sp>
      <p:sp>
        <p:nvSpPr>
          <p:cNvPr id="9" name="TextBox 8">
            <a:extLst>
              <a:ext uri="{FF2B5EF4-FFF2-40B4-BE49-F238E27FC236}">
                <a16:creationId xmlns:a16="http://schemas.microsoft.com/office/drawing/2014/main" id="{C7306F35-0B74-EB49-16E4-14CDDDAFECD3}"/>
              </a:ext>
            </a:extLst>
          </p:cNvPr>
          <p:cNvSpPr txBox="1"/>
          <p:nvPr/>
        </p:nvSpPr>
        <p:spPr>
          <a:xfrm>
            <a:off x="2821820" y="5866481"/>
            <a:ext cx="402674" cy="246221"/>
          </a:xfrm>
          <a:prstGeom prst="rect">
            <a:avLst/>
          </a:prstGeom>
          <a:solidFill>
            <a:schemeClr val="bg1"/>
          </a:solidFill>
        </p:spPr>
        <p:txBody>
          <a:bodyPr wrap="none" rtlCol="0">
            <a:spAutoFit/>
          </a:bodyPr>
          <a:lstStyle/>
          <a:p>
            <a:r>
              <a:rPr lang="en-US" sz="1000" b="1" dirty="0"/>
              <a:t>Cart</a:t>
            </a:r>
            <a:endParaRPr lang="en-US" sz="1100" b="1" dirty="0"/>
          </a:p>
        </p:txBody>
      </p:sp>
      <p:sp>
        <p:nvSpPr>
          <p:cNvPr id="12" name="TextBox 11">
            <a:extLst>
              <a:ext uri="{FF2B5EF4-FFF2-40B4-BE49-F238E27FC236}">
                <a16:creationId xmlns:a16="http://schemas.microsoft.com/office/drawing/2014/main" id="{CE0C6493-E32B-64AD-5C6B-97D9674C2A19}"/>
              </a:ext>
            </a:extLst>
          </p:cNvPr>
          <p:cNvSpPr txBox="1"/>
          <p:nvPr/>
        </p:nvSpPr>
        <p:spPr>
          <a:xfrm>
            <a:off x="1316682" y="1017666"/>
            <a:ext cx="2334051" cy="2400657"/>
          </a:xfrm>
          <a:prstGeom prst="rect">
            <a:avLst/>
          </a:prstGeom>
          <a:solidFill>
            <a:schemeClr val="bg1"/>
          </a:solidFill>
        </p:spPr>
        <p:txBody>
          <a:bodyPr wrap="square" rtlCol="0">
            <a:spAutoFit/>
          </a:bodyPr>
          <a:lstStyle/>
          <a:p>
            <a:r>
              <a:rPr lang="en-US" sz="1200" dirty="0">
                <a:latin typeface="Limerick Serial"/>
              </a:rPr>
              <a:t>Submit Your Daily Journal Entry:</a:t>
            </a:r>
          </a:p>
          <a:p>
            <a:endParaRPr lang="en-US" sz="1200" dirty="0">
              <a:latin typeface="Limerick Serial"/>
            </a:endParaRPr>
          </a:p>
          <a:p>
            <a:endParaRPr lang="en-US" sz="1200" dirty="0">
              <a:latin typeface="Limerick Serial"/>
            </a:endParaRPr>
          </a:p>
          <a:p>
            <a:endParaRPr lang="en-US" sz="1200" dirty="0">
              <a:latin typeface="Limerick Serial"/>
            </a:endParaRPr>
          </a:p>
          <a:p>
            <a:endParaRPr lang="en-US" sz="1200" dirty="0">
              <a:latin typeface="Limerick Serial"/>
            </a:endParaRPr>
          </a:p>
          <a:p>
            <a:pPr lvl="8"/>
            <a:endParaRPr lang="en-US" sz="1400" b="0" i="0" u="none" strike="noStrike" dirty="0">
              <a:effectLst/>
              <a:latin typeface="Limerick Serial"/>
            </a:endParaRPr>
          </a:p>
          <a:p>
            <a:endParaRPr lang="en-US" sz="1400" dirty="0">
              <a:latin typeface="Limerick Serial"/>
            </a:endParaRPr>
          </a:p>
          <a:p>
            <a:endParaRPr lang="en-US" sz="1400" b="0" i="0" u="none" strike="noStrike" dirty="0">
              <a:effectLst/>
              <a:latin typeface="Limerick Serial"/>
            </a:endParaRPr>
          </a:p>
          <a:p>
            <a:r>
              <a:rPr lang="en-US" sz="1200" b="0" i="0" u="none" strike="noStrike" dirty="0">
                <a:effectLst/>
                <a:latin typeface="Limerick Serial"/>
              </a:rPr>
              <a:t>Thoughts on how diet went:</a:t>
            </a:r>
          </a:p>
          <a:p>
            <a:r>
              <a:rPr lang="en-US" sz="1200" dirty="0">
                <a:latin typeface="Limerick Serial"/>
              </a:rPr>
              <a:t>Good / bad from the day?</a:t>
            </a:r>
          </a:p>
          <a:p>
            <a:r>
              <a:rPr lang="en-US" sz="1200" dirty="0">
                <a:latin typeface="Limerick Serial"/>
              </a:rPr>
              <a:t>How are you feeling?</a:t>
            </a:r>
          </a:p>
          <a:p>
            <a:r>
              <a:rPr lang="en-US" sz="1200" b="0" i="0" u="none" strike="noStrike" dirty="0">
                <a:effectLst/>
                <a:latin typeface="Limerick Serial"/>
              </a:rPr>
              <a:t>Accomplishments?</a:t>
            </a:r>
          </a:p>
        </p:txBody>
      </p:sp>
      <p:sp>
        <p:nvSpPr>
          <p:cNvPr id="17" name="TextBox 16">
            <a:extLst>
              <a:ext uri="{FF2B5EF4-FFF2-40B4-BE49-F238E27FC236}">
                <a16:creationId xmlns:a16="http://schemas.microsoft.com/office/drawing/2014/main" id="{80ADEF82-157C-51BB-FA74-E7BC18C406C1}"/>
              </a:ext>
            </a:extLst>
          </p:cNvPr>
          <p:cNvSpPr txBox="1"/>
          <p:nvPr/>
        </p:nvSpPr>
        <p:spPr>
          <a:xfrm>
            <a:off x="4213742" y="1495422"/>
            <a:ext cx="7254358" cy="1815882"/>
          </a:xfrm>
          <a:prstGeom prst="rect">
            <a:avLst/>
          </a:prstGeom>
          <a:noFill/>
        </p:spPr>
        <p:txBody>
          <a:bodyPr wrap="square">
            <a:spAutoFit/>
          </a:bodyPr>
          <a:lstStyle/>
          <a:p>
            <a:r>
              <a:rPr lang="en-US" sz="1400" b="0" i="0" dirty="0"/>
              <a:t>Every day dieter will be asked to add a journal entry.</a:t>
            </a:r>
          </a:p>
          <a:p>
            <a:endParaRPr lang="en-US" sz="1400" u="none" strike="noStrike" dirty="0">
              <a:effectLst/>
            </a:endParaRPr>
          </a:p>
          <a:p>
            <a:r>
              <a:rPr lang="en-US" sz="1400" b="0" i="0" u="none" strike="noStrike" dirty="0">
                <a:effectLst/>
              </a:rPr>
              <a:t>Journal entries will help catalog daily thoughts and help dieter reaffirm they are committed to the diet.</a:t>
            </a:r>
          </a:p>
          <a:p>
            <a:endParaRPr lang="en-US" sz="1400" dirty="0"/>
          </a:p>
          <a:p>
            <a:r>
              <a:rPr lang="en-US" sz="1400" b="0" i="0" u="none" strike="noStrike" dirty="0">
                <a:effectLst/>
              </a:rPr>
              <a:t>Positive journal entries can be displayed in future days as positive reinforcement.</a:t>
            </a:r>
          </a:p>
          <a:p>
            <a:endParaRPr lang="en-US" sz="1400" dirty="0"/>
          </a:p>
          <a:p>
            <a:r>
              <a:rPr lang="en-US" sz="1400" b="0" i="0" u="none" strike="noStrike" dirty="0">
                <a:effectLst/>
              </a:rPr>
              <a:t>Self validation, self congratulations, and reflection help keep a dieter motivated.</a:t>
            </a:r>
          </a:p>
        </p:txBody>
      </p:sp>
      <p:sp>
        <p:nvSpPr>
          <p:cNvPr id="3" name="Rectangle 2">
            <a:extLst>
              <a:ext uri="{FF2B5EF4-FFF2-40B4-BE49-F238E27FC236}">
                <a16:creationId xmlns:a16="http://schemas.microsoft.com/office/drawing/2014/main" id="{341696C9-AAE6-27D8-D104-0650384A69A8}"/>
              </a:ext>
            </a:extLst>
          </p:cNvPr>
          <p:cNvSpPr/>
          <p:nvPr/>
        </p:nvSpPr>
        <p:spPr>
          <a:xfrm>
            <a:off x="1343093" y="1780430"/>
            <a:ext cx="2142308" cy="770708"/>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Enter Text</a:t>
            </a:r>
          </a:p>
        </p:txBody>
      </p:sp>
      <p:sp>
        <p:nvSpPr>
          <p:cNvPr id="13" name="TextBox 12">
            <a:extLst>
              <a:ext uri="{FF2B5EF4-FFF2-40B4-BE49-F238E27FC236}">
                <a16:creationId xmlns:a16="http://schemas.microsoft.com/office/drawing/2014/main" id="{0490A895-1B40-6A1C-E026-8C20485A3462}"/>
              </a:ext>
            </a:extLst>
          </p:cNvPr>
          <p:cNvSpPr txBox="1"/>
          <p:nvPr/>
        </p:nvSpPr>
        <p:spPr>
          <a:xfrm>
            <a:off x="1285469" y="3809009"/>
            <a:ext cx="2334051" cy="1477328"/>
          </a:xfrm>
          <a:prstGeom prst="rect">
            <a:avLst/>
          </a:prstGeom>
          <a:solidFill>
            <a:schemeClr val="bg1"/>
          </a:solidFill>
        </p:spPr>
        <p:txBody>
          <a:bodyPr wrap="square" rtlCol="0">
            <a:spAutoFit/>
          </a:bodyPr>
          <a:lstStyle/>
          <a:p>
            <a:r>
              <a:rPr lang="en-US" sz="1000" b="1" dirty="0">
                <a:latin typeface="Limerick Serial"/>
              </a:rPr>
              <a:t>Journal Entries From Previous Day:</a:t>
            </a:r>
          </a:p>
          <a:p>
            <a:endParaRPr lang="en-US" sz="1000" b="1" i="0" u="none" strike="noStrike" dirty="0">
              <a:effectLst/>
              <a:latin typeface="Limerick Serial"/>
            </a:endParaRPr>
          </a:p>
          <a:p>
            <a:r>
              <a:rPr lang="en-US" sz="1000" b="0" i="0" u="none" strike="noStrike" dirty="0">
                <a:effectLst/>
                <a:latin typeface="Limerick Serial"/>
              </a:rPr>
              <a:t>“I’</a:t>
            </a:r>
            <a:r>
              <a:rPr lang="en-US" sz="1000" dirty="0">
                <a:latin typeface="Limerick Serial"/>
              </a:rPr>
              <a:t>ve lost 6 pounds and I’m sleeping better than ever.  I haven’t had heartburn in 2 weeks.”</a:t>
            </a:r>
          </a:p>
          <a:p>
            <a:endParaRPr lang="en-US" sz="1000" dirty="0">
              <a:latin typeface="Limerick Serial"/>
            </a:endParaRPr>
          </a:p>
          <a:p>
            <a:r>
              <a:rPr lang="en-US" sz="1000" dirty="0">
                <a:latin typeface="Limerick Serial"/>
              </a:rPr>
              <a:t>“I had a craving for ice cream.  I had an apple instead.  It was delicious and satisfied my craving.”</a:t>
            </a:r>
          </a:p>
        </p:txBody>
      </p:sp>
      <p:sp>
        <p:nvSpPr>
          <p:cNvPr id="14" name="Rectangle 13">
            <a:extLst>
              <a:ext uri="{FF2B5EF4-FFF2-40B4-BE49-F238E27FC236}">
                <a16:creationId xmlns:a16="http://schemas.microsoft.com/office/drawing/2014/main" id="{CB62C35A-9624-8EAC-B031-29E56F263DF6}"/>
              </a:ext>
            </a:extLst>
          </p:cNvPr>
          <p:cNvSpPr/>
          <p:nvPr/>
        </p:nvSpPr>
        <p:spPr>
          <a:xfrm>
            <a:off x="1343093" y="1436812"/>
            <a:ext cx="2142308" cy="235234"/>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Type of Entry Dropdown</a:t>
            </a:r>
          </a:p>
        </p:txBody>
      </p:sp>
    </p:spTree>
    <p:extLst>
      <p:ext uri="{BB962C8B-B14F-4D97-AF65-F5344CB8AC3E}">
        <p14:creationId xmlns:p14="http://schemas.microsoft.com/office/powerpoint/2010/main" val="37490949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0A479-3B57-60E3-1CA2-D70BEFFA1479}"/>
              </a:ext>
            </a:extLst>
          </p:cNvPr>
          <p:cNvSpPr>
            <a:spLocks noGrp="1"/>
          </p:cNvSpPr>
          <p:nvPr>
            <p:ph type="title"/>
          </p:nvPr>
        </p:nvSpPr>
        <p:spPr>
          <a:xfrm>
            <a:off x="4043461" y="169859"/>
            <a:ext cx="7785254" cy="1325563"/>
          </a:xfrm>
        </p:spPr>
        <p:txBody>
          <a:bodyPr>
            <a:normAutofit fontScale="90000"/>
          </a:bodyPr>
          <a:lstStyle/>
          <a:p>
            <a:pPr algn="ctr"/>
            <a:r>
              <a:rPr lang="en-US" sz="4400" dirty="0"/>
              <a:t>Help! I’m About To Go Off the Rails</a:t>
            </a:r>
            <a:br>
              <a:rPr lang="en-US" dirty="0"/>
            </a:br>
            <a:r>
              <a:rPr lang="en-US" dirty="0"/>
              <a:t>Community Support</a:t>
            </a:r>
          </a:p>
        </p:txBody>
      </p:sp>
      <p:pic>
        <p:nvPicPr>
          <p:cNvPr id="4" name="Picture 3">
            <a:extLst>
              <a:ext uri="{FF2B5EF4-FFF2-40B4-BE49-F238E27FC236}">
                <a16:creationId xmlns:a16="http://schemas.microsoft.com/office/drawing/2014/main" id="{8AE4A0BA-8C93-A8DD-F61B-AECB1982A8A6}"/>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939113" y="534824"/>
            <a:ext cx="3089190" cy="5980352"/>
          </a:xfrm>
          <a:prstGeom prst="rect">
            <a:avLst/>
          </a:prstGeom>
        </p:spPr>
      </p:pic>
      <p:sp>
        <p:nvSpPr>
          <p:cNvPr id="5" name="TextBox 4">
            <a:extLst>
              <a:ext uri="{FF2B5EF4-FFF2-40B4-BE49-F238E27FC236}">
                <a16:creationId xmlns:a16="http://schemas.microsoft.com/office/drawing/2014/main" id="{49EF9105-9FEC-F147-F0E2-6BDD87EE1B71}"/>
              </a:ext>
            </a:extLst>
          </p:cNvPr>
          <p:cNvSpPr txBox="1"/>
          <p:nvPr/>
        </p:nvSpPr>
        <p:spPr>
          <a:xfrm>
            <a:off x="1255924" y="5866481"/>
            <a:ext cx="616944" cy="246221"/>
          </a:xfrm>
          <a:prstGeom prst="rect">
            <a:avLst/>
          </a:prstGeom>
          <a:noFill/>
        </p:spPr>
        <p:txBody>
          <a:bodyPr wrap="square" rtlCol="0">
            <a:spAutoFit/>
          </a:bodyPr>
          <a:lstStyle/>
          <a:p>
            <a:r>
              <a:rPr lang="en-US" sz="1000" b="1" dirty="0"/>
              <a:t>Account</a:t>
            </a:r>
          </a:p>
        </p:txBody>
      </p:sp>
      <p:sp>
        <p:nvSpPr>
          <p:cNvPr id="6" name="TextBox 5">
            <a:extLst>
              <a:ext uri="{FF2B5EF4-FFF2-40B4-BE49-F238E27FC236}">
                <a16:creationId xmlns:a16="http://schemas.microsoft.com/office/drawing/2014/main" id="{71D52CBA-97CB-9CA3-7086-35CE0511D182}"/>
              </a:ext>
            </a:extLst>
          </p:cNvPr>
          <p:cNvSpPr txBox="1"/>
          <p:nvPr/>
        </p:nvSpPr>
        <p:spPr>
          <a:xfrm>
            <a:off x="1824021" y="5866481"/>
            <a:ext cx="590226" cy="246221"/>
          </a:xfrm>
          <a:prstGeom prst="rect">
            <a:avLst/>
          </a:prstGeom>
          <a:noFill/>
        </p:spPr>
        <p:txBody>
          <a:bodyPr wrap="none" rtlCol="0">
            <a:spAutoFit/>
          </a:bodyPr>
          <a:lstStyle/>
          <a:p>
            <a:r>
              <a:rPr lang="en-US" sz="1000" b="1" dirty="0"/>
              <a:t>Activity</a:t>
            </a:r>
            <a:endParaRPr lang="en-US" sz="1100" b="1" dirty="0"/>
          </a:p>
        </p:txBody>
      </p:sp>
      <p:sp>
        <p:nvSpPr>
          <p:cNvPr id="7" name="TextBox 6">
            <a:extLst>
              <a:ext uri="{FF2B5EF4-FFF2-40B4-BE49-F238E27FC236}">
                <a16:creationId xmlns:a16="http://schemas.microsoft.com/office/drawing/2014/main" id="{B01F81FC-AC30-BBB2-384C-B8D6C43DDDAC}"/>
              </a:ext>
            </a:extLst>
          </p:cNvPr>
          <p:cNvSpPr txBox="1"/>
          <p:nvPr/>
        </p:nvSpPr>
        <p:spPr>
          <a:xfrm>
            <a:off x="2347767" y="5866481"/>
            <a:ext cx="535724" cy="246221"/>
          </a:xfrm>
          <a:prstGeom prst="rect">
            <a:avLst/>
          </a:prstGeom>
          <a:noFill/>
        </p:spPr>
        <p:txBody>
          <a:bodyPr wrap="none" rtlCol="0">
            <a:spAutoFit/>
          </a:bodyPr>
          <a:lstStyle/>
          <a:p>
            <a:r>
              <a:rPr lang="en-US" sz="1000" b="1" dirty="0"/>
              <a:t>Profile</a:t>
            </a:r>
            <a:endParaRPr lang="en-US" sz="1100" b="1" dirty="0"/>
          </a:p>
        </p:txBody>
      </p:sp>
      <p:sp>
        <p:nvSpPr>
          <p:cNvPr id="8" name="TextBox 7">
            <a:extLst>
              <a:ext uri="{FF2B5EF4-FFF2-40B4-BE49-F238E27FC236}">
                <a16:creationId xmlns:a16="http://schemas.microsoft.com/office/drawing/2014/main" id="{576D7BAD-CB3B-4167-A595-11FFA79C2769}"/>
              </a:ext>
            </a:extLst>
          </p:cNvPr>
          <p:cNvSpPr txBox="1"/>
          <p:nvPr/>
        </p:nvSpPr>
        <p:spPr>
          <a:xfrm>
            <a:off x="3175645" y="5866481"/>
            <a:ext cx="470000" cy="246221"/>
          </a:xfrm>
          <a:prstGeom prst="rect">
            <a:avLst/>
          </a:prstGeom>
          <a:solidFill>
            <a:schemeClr val="bg1"/>
          </a:solidFill>
        </p:spPr>
        <p:txBody>
          <a:bodyPr wrap="none" rtlCol="0">
            <a:spAutoFit/>
          </a:bodyPr>
          <a:lstStyle/>
          <a:p>
            <a:r>
              <a:rPr lang="en-US" sz="1000" b="1" dirty="0"/>
              <a:t>Panic</a:t>
            </a:r>
            <a:endParaRPr lang="en-US" sz="1100" b="1" dirty="0"/>
          </a:p>
        </p:txBody>
      </p:sp>
      <p:sp>
        <p:nvSpPr>
          <p:cNvPr id="9" name="TextBox 8">
            <a:extLst>
              <a:ext uri="{FF2B5EF4-FFF2-40B4-BE49-F238E27FC236}">
                <a16:creationId xmlns:a16="http://schemas.microsoft.com/office/drawing/2014/main" id="{C7306F35-0B74-EB49-16E4-14CDDDAFECD3}"/>
              </a:ext>
            </a:extLst>
          </p:cNvPr>
          <p:cNvSpPr txBox="1"/>
          <p:nvPr/>
        </p:nvSpPr>
        <p:spPr>
          <a:xfrm>
            <a:off x="2821820" y="5866481"/>
            <a:ext cx="402674" cy="246221"/>
          </a:xfrm>
          <a:prstGeom prst="rect">
            <a:avLst/>
          </a:prstGeom>
          <a:solidFill>
            <a:schemeClr val="bg1"/>
          </a:solidFill>
        </p:spPr>
        <p:txBody>
          <a:bodyPr wrap="none" rtlCol="0">
            <a:spAutoFit/>
          </a:bodyPr>
          <a:lstStyle/>
          <a:p>
            <a:r>
              <a:rPr lang="en-US" sz="1000" b="1" dirty="0"/>
              <a:t>Cart</a:t>
            </a:r>
            <a:endParaRPr lang="en-US" sz="1100" b="1" dirty="0"/>
          </a:p>
        </p:txBody>
      </p:sp>
      <p:sp>
        <p:nvSpPr>
          <p:cNvPr id="17" name="TextBox 16">
            <a:extLst>
              <a:ext uri="{FF2B5EF4-FFF2-40B4-BE49-F238E27FC236}">
                <a16:creationId xmlns:a16="http://schemas.microsoft.com/office/drawing/2014/main" id="{80ADEF82-157C-51BB-FA74-E7BC18C406C1}"/>
              </a:ext>
            </a:extLst>
          </p:cNvPr>
          <p:cNvSpPr txBox="1"/>
          <p:nvPr/>
        </p:nvSpPr>
        <p:spPr>
          <a:xfrm>
            <a:off x="4213742" y="1495422"/>
            <a:ext cx="7254358" cy="1815882"/>
          </a:xfrm>
          <a:prstGeom prst="rect">
            <a:avLst/>
          </a:prstGeom>
          <a:noFill/>
        </p:spPr>
        <p:txBody>
          <a:bodyPr wrap="square">
            <a:spAutoFit/>
          </a:bodyPr>
          <a:lstStyle/>
          <a:p>
            <a:r>
              <a:rPr lang="en-US" sz="1400" i="0" u="none" strike="noStrike" dirty="0">
                <a:solidFill>
                  <a:srgbClr val="4B4F58"/>
                </a:solidFill>
                <a:effectLst/>
              </a:rPr>
              <a:t>Show others going through same thing.</a:t>
            </a:r>
          </a:p>
          <a:p>
            <a:endParaRPr lang="en-US" sz="1400" dirty="0">
              <a:solidFill>
                <a:srgbClr val="4B4F58"/>
              </a:solidFill>
            </a:endParaRPr>
          </a:p>
          <a:p>
            <a:r>
              <a:rPr lang="en-US" sz="1400" i="0" u="none" strike="noStrike" dirty="0">
                <a:solidFill>
                  <a:srgbClr val="4B4F58"/>
                </a:solidFill>
                <a:effectLst/>
              </a:rPr>
              <a:t>Potentially directly interact with fellow Humanauts.</a:t>
            </a:r>
          </a:p>
          <a:p>
            <a:endParaRPr lang="en-US" sz="1400" dirty="0">
              <a:solidFill>
                <a:srgbClr val="4B4F58"/>
              </a:solidFill>
            </a:endParaRPr>
          </a:p>
          <a:p>
            <a:r>
              <a:rPr lang="en-US" sz="1400" i="0" u="none" strike="noStrike" dirty="0">
                <a:solidFill>
                  <a:srgbClr val="4B4F58"/>
                </a:solidFill>
                <a:effectLst/>
              </a:rPr>
              <a:t>See encouraging messages.</a:t>
            </a:r>
          </a:p>
          <a:p>
            <a:endParaRPr lang="en-US" sz="1400" dirty="0">
              <a:solidFill>
                <a:srgbClr val="4B4F58"/>
              </a:solidFill>
            </a:endParaRPr>
          </a:p>
          <a:p>
            <a:r>
              <a:rPr lang="en-US" sz="1400" i="0" u="none" strike="noStrike" dirty="0">
                <a:solidFill>
                  <a:srgbClr val="4B4F58"/>
                </a:solidFill>
                <a:effectLst/>
              </a:rPr>
              <a:t>Start weight loss challenges.</a:t>
            </a:r>
          </a:p>
          <a:p>
            <a:endParaRPr lang="en-US" sz="1400" dirty="0">
              <a:solidFill>
                <a:srgbClr val="4B4F58"/>
              </a:solidFill>
            </a:endParaRPr>
          </a:p>
        </p:txBody>
      </p:sp>
      <p:pic>
        <p:nvPicPr>
          <p:cNvPr id="10" name="Picture 9" descr="A screenshot of a computer&#10;&#10;Description automatically generated">
            <a:extLst>
              <a:ext uri="{FF2B5EF4-FFF2-40B4-BE49-F238E27FC236}">
                <a16:creationId xmlns:a16="http://schemas.microsoft.com/office/drawing/2014/main" id="{9CA246B3-A4CD-E056-8884-DBCA25ADB953}"/>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255923" y="953588"/>
            <a:ext cx="2389721" cy="4215190"/>
          </a:xfrm>
          <a:prstGeom prst="rect">
            <a:avLst/>
          </a:prstGeom>
        </p:spPr>
      </p:pic>
      <p:sp>
        <p:nvSpPr>
          <p:cNvPr id="13" name="TextBox 12">
            <a:extLst>
              <a:ext uri="{FF2B5EF4-FFF2-40B4-BE49-F238E27FC236}">
                <a16:creationId xmlns:a16="http://schemas.microsoft.com/office/drawing/2014/main" id="{359DA501-A45B-312D-D397-7B5F8CB04CA4}"/>
              </a:ext>
            </a:extLst>
          </p:cNvPr>
          <p:cNvSpPr txBox="1"/>
          <p:nvPr/>
        </p:nvSpPr>
        <p:spPr>
          <a:xfrm>
            <a:off x="1215576" y="5272402"/>
            <a:ext cx="2430068" cy="461665"/>
          </a:xfrm>
          <a:prstGeom prst="rect">
            <a:avLst/>
          </a:prstGeom>
          <a:noFill/>
        </p:spPr>
        <p:txBody>
          <a:bodyPr wrap="square">
            <a:spAutoFit/>
          </a:bodyPr>
          <a:lstStyle/>
          <a:p>
            <a:r>
              <a:rPr lang="en-US" sz="1200" b="0" i="0" u="none" strike="noStrike" dirty="0">
                <a:effectLst/>
                <a:latin typeface="Limerick Serial"/>
              </a:rPr>
              <a:t>“You got this.  We are all behind you.  Love your progress!”</a:t>
            </a:r>
            <a:endParaRPr lang="en-US" sz="1200" dirty="0">
              <a:latin typeface="Limerick Serial"/>
            </a:endParaRPr>
          </a:p>
        </p:txBody>
      </p:sp>
    </p:spTree>
    <p:extLst>
      <p:ext uri="{BB962C8B-B14F-4D97-AF65-F5344CB8AC3E}">
        <p14:creationId xmlns:p14="http://schemas.microsoft.com/office/powerpoint/2010/main" val="14856766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E73E0-959D-03E8-014A-348FC48C47C6}"/>
              </a:ext>
            </a:extLst>
          </p:cNvPr>
          <p:cNvSpPr>
            <a:spLocks noGrp="1"/>
          </p:cNvSpPr>
          <p:nvPr>
            <p:ph type="title"/>
          </p:nvPr>
        </p:nvSpPr>
        <p:spPr/>
        <p:txBody>
          <a:bodyPr/>
          <a:lstStyle/>
          <a:p>
            <a:r>
              <a:rPr lang="en-US" dirty="0"/>
              <a:t>Follow-up after pushing button (either one)</a:t>
            </a:r>
          </a:p>
        </p:txBody>
      </p:sp>
      <p:sp>
        <p:nvSpPr>
          <p:cNvPr id="3" name="Content Placeholder 2">
            <a:extLst>
              <a:ext uri="{FF2B5EF4-FFF2-40B4-BE49-F238E27FC236}">
                <a16:creationId xmlns:a16="http://schemas.microsoft.com/office/drawing/2014/main" id="{C9E524E9-F783-E8BA-83F0-5A5EF767D6A4}"/>
              </a:ext>
            </a:extLst>
          </p:cNvPr>
          <p:cNvSpPr>
            <a:spLocks noGrp="1"/>
          </p:cNvSpPr>
          <p:nvPr>
            <p:ph idx="1"/>
          </p:nvPr>
        </p:nvSpPr>
        <p:spPr/>
        <p:txBody>
          <a:bodyPr/>
          <a:lstStyle/>
          <a:p>
            <a:pPr marL="0" indent="0">
              <a:buNone/>
            </a:pPr>
            <a:r>
              <a:rPr lang="en-US" dirty="0"/>
              <a:t>24 hours after receiving initial response, SOS will check in with you to do the following:</a:t>
            </a:r>
          </a:p>
          <a:p>
            <a:pPr marL="0" indent="0">
              <a:buNone/>
            </a:pPr>
            <a:endParaRPr lang="en-US" dirty="0"/>
          </a:p>
          <a:p>
            <a:pPr marL="0" indent="0">
              <a:buNone/>
            </a:pPr>
            <a:r>
              <a:rPr lang="en-US" dirty="0"/>
              <a:t>- Remind dieter of their goals and why’s</a:t>
            </a:r>
          </a:p>
          <a:p>
            <a:pPr marL="0" indent="0">
              <a:buNone/>
            </a:pPr>
            <a:r>
              <a:rPr lang="en-US" dirty="0"/>
              <a:t>- Provide statistics on the importance of not letting one bad day become a series of bad days</a:t>
            </a:r>
          </a:p>
          <a:p>
            <a:pPr marL="0" indent="0">
              <a:buNone/>
            </a:pPr>
            <a:r>
              <a:rPr lang="en-US" dirty="0"/>
              <a:t>- Provide tips for getting back into diet flow i.e. emphasis on protein</a:t>
            </a:r>
          </a:p>
          <a:p>
            <a:pPr marL="0" indent="0">
              <a:buNone/>
            </a:pPr>
            <a:r>
              <a:rPr lang="en-US" dirty="0"/>
              <a:t>- Provide some note of encouragement</a:t>
            </a:r>
          </a:p>
          <a:p>
            <a:pPr marL="0" indent="0">
              <a:buNone/>
            </a:pPr>
            <a:r>
              <a:rPr lang="en-US" dirty="0"/>
              <a:t>- Provide some simple recipe ideas</a:t>
            </a:r>
          </a:p>
          <a:p>
            <a:pPr marL="0" indent="0">
              <a:buNone/>
            </a:pPr>
            <a:endParaRPr lang="en-US" dirty="0"/>
          </a:p>
          <a:p>
            <a:endParaRPr lang="en-US" dirty="0"/>
          </a:p>
          <a:p>
            <a:pPr marL="0" indent="0">
              <a:buNone/>
            </a:pPr>
            <a:endParaRPr lang="en-US" dirty="0"/>
          </a:p>
        </p:txBody>
      </p:sp>
    </p:spTree>
    <p:extLst>
      <p:ext uri="{BB962C8B-B14F-4D97-AF65-F5344CB8AC3E}">
        <p14:creationId xmlns:p14="http://schemas.microsoft.com/office/powerpoint/2010/main" val="15188012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65A909EF-B8C4-B11E-EA42-FF67B822EF50}"/>
              </a:ext>
            </a:extLst>
          </p:cNvPr>
          <p:cNvSpPr/>
          <p:nvPr/>
        </p:nvSpPr>
        <p:spPr>
          <a:xfrm>
            <a:off x="5711278" y="1745838"/>
            <a:ext cx="6368447" cy="4279221"/>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82908694-99B1-6028-E9A3-5F591402DD14}"/>
              </a:ext>
            </a:extLst>
          </p:cNvPr>
          <p:cNvSpPr/>
          <p:nvPr/>
        </p:nvSpPr>
        <p:spPr>
          <a:xfrm>
            <a:off x="918660" y="1745838"/>
            <a:ext cx="3383280" cy="4279221"/>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6886CE9-98C1-D902-F830-F695C6CC4757}"/>
              </a:ext>
            </a:extLst>
          </p:cNvPr>
          <p:cNvSpPr>
            <a:spLocks noGrp="1"/>
          </p:cNvSpPr>
          <p:nvPr>
            <p:ph type="title"/>
          </p:nvPr>
        </p:nvSpPr>
        <p:spPr>
          <a:xfrm>
            <a:off x="0" y="0"/>
            <a:ext cx="10515600" cy="1325563"/>
          </a:xfrm>
        </p:spPr>
        <p:txBody>
          <a:bodyPr/>
          <a:lstStyle/>
          <a:p>
            <a:r>
              <a:rPr lang="en-US" dirty="0"/>
              <a:t>Basic Flow Chart</a:t>
            </a:r>
          </a:p>
        </p:txBody>
      </p:sp>
      <p:sp>
        <p:nvSpPr>
          <p:cNvPr id="4" name="TextBox 3">
            <a:extLst>
              <a:ext uri="{FF2B5EF4-FFF2-40B4-BE49-F238E27FC236}">
                <a16:creationId xmlns:a16="http://schemas.microsoft.com/office/drawing/2014/main" id="{A0FA3F8E-EA26-B198-FC66-85E6E0617632}"/>
              </a:ext>
            </a:extLst>
          </p:cNvPr>
          <p:cNvSpPr txBox="1"/>
          <p:nvPr/>
        </p:nvSpPr>
        <p:spPr>
          <a:xfrm>
            <a:off x="1064585" y="1912534"/>
            <a:ext cx="3291879" cy="2292935"/>
          </a:xfrm>
          <a:prstGeom prst="rect">
            <a:avLst/>
          </a:prstGeom>
          <a:noFill/>
        </p:spPr>
        <p:txBody>
          <a:bodyPr wrap="square" rtlCol="0">
            <a:spAutoFit/>
          </a:bodyPr>
          <a:lstStyle/>
          <a:p>
            <a:r>
              <a:rPr lang="en-US" sz="1100" b="1" dirty="0"/>
              <a:t>STEP 1:  ACCOUNT SETUP</a:t>
            </a:r>
          </a:p>
          <a:p>
            <a:r>
              <a:rPr lang="en-US" sz="1100" dirty="0"/>
              <a:t>Dieter Creates Account:</a:t>
            </a:r>
          </a:p>
          <a:p>
            <a:pPr marL="171450" indent="-171450">
              <a:buFont typeface="Arial" panose="020B0604020202020204" pitchFamily="34" charset="0"/>
              <a:buChar char="•"/>
            </a:pPr>
            <a:r>
              <a:rPr lang="en-US" sz="1100" dirty="0"/>
              <a:t>Name</a:t>
            </a:r>
          </a:p>
          <a:p>
            <a:pPr marL="171450" indent="-171450">
              <a:buFont typeface="Arial" panose="020B0604020202020204" pitchFamily="34" charset="0"/>
              <a:buChar char="•"/>
            </a:pPr>
            <a:r>
              <a:rPr lang="en-US" sz="1100" dirty="0"/>
              <a:t>Age</a:t>
            </a:r>
          </a:p>
          <a:p>
            <a:pPr marL="171450" indent="-171450">
              <a:buFont typeface="Arial" panose="020B0604020202020204" pitchFamily="34" charset="0"/>
              <a:buChar char="•"/>
            </a:pPr>
            <a:r>
              <a:rPr lang="en-US" sz="1100" dirty="0"/>
              <a:t>Contact Info</a:t>
            </a:r>
          </a:p>
          <a:p>
            <a:pPr marL="285750" indent="-285750">
              <a:buFont typeface="Arial" panose="020B0604020202020204" pitchFamily="34" charset="0"/>
              <a:buChar char="•"/>
            </a:pPr>
            <a:r>
              <a:rPr lang="en-US" sz="1100" dirty="0"/>
              <a:t>Top 3-4 goals</a:t>
            </a:r>
          </a:p>
          <a:p>
            <a:pPr marL="285750" indent="-285750">
              <a:buFont typeface="Arial" panose="020B0604020202020204" pitchFamily="34" charset="0"/>
              <a:buChar char="•"/>
            </a:pPr>
            <a:r>
              <a:rPr lang="en-US" sz="1100" dirty="0"/>
              <a:t>Why these goals are important</a:t>
            </a:r>
          </a:p>
          <a:p>
            <a:pPr marL="285750" indent="-285750">
              <a:buFont typeface="Arial" panose="020B0604020202020204" pitchFamily="34" charset="0"/>
              <a:buChar char="•"/>
            </a:pPr>
            <a:r>
              <a:rPr lang="en-US" sz="1100" dirty="0"/>
              <a:t>What style of motivation do you prefer</a:t>
            </a:r>
          </a:p>
          <a:p>
            <a:pPr marL="285750" indent="-285750">
              <a:buFont typeface="Arial" panose="020B0604020202020204" pitchFamily="34" charset="0"/>
              <a:buChar char="•"/>
            </a:pPr>
            <a:r>
              <a:rPr lang="en-US" sz="1100" dirty="0"/>
              <a:t>Add rewards you value for hitting milestones</a:t>
            </a:r>
          </a:p>
          <a:p>
            <a:pPr marL="285750" indent="-285750">
              <a:buFont typeface="Arial" panose="020B0604020202020204" pitchFamily="34" charset="0"/>
              <a:buChar char="•"/>
            </a:pPr>
            <a:r>
              <a:rPr lang="en-US" sz="1100" dirty="0"/>
              <a:t>Add list of friends / family that will be accountability partners</a:t>
            </a:r>
          </a:p>
          <a:p>
            <a:pPr marL="285750" indent="-285750">
              <a:buFont typeface="Arial" panose="020B0604020202020204" pitchFamily="34" charset="0"/>
              <a:buChar char="•"/>
            </a:pPr>
            <a:r>
              <a:rPr lang="en-US" sz="1100" dirty="0"/>
              <a:t>Add top reasons previous diets have failed</a:t>
            </a:r>
          </a:p>
          <a:p>
            <a:pPr marL="171450" indent="-171450">
              <a:buFont typeface="Arial" panose="020B0604020202020204" pitchFamily="34" charset="0"/>
              <a:buChar char="•"/>
            </a:pPr>
            <a:endParaRPr lang="en-US" sz="1100" dirty="0"/>
          </a:p>
        </p:txBody>
      </p:sp>
      <p:sp>
        <p:nvSpPr>
          <p:cNvPr id="6" name="TextBox 5">
            <a:extLst>
              <a:ext uri="{FF2B5EF4-FFF2-40B4-BE49-F238E27FC236}">
                <a16:creationId xmlns:a16="http://schemas.microsoft.com/office/drawing/2014/main" id="{9985D697-C6F1-F34C-89ED-3D301ABE8D28}"/>
              </a:ext>
            </a:extLst>
          </p:cNvPr>
          <p:cNvSpPr txBox="1"/>
          <p:nvPr/>
        </p:nvSpPr>
        <p:spPr>
          <a:xfrm>
            <a:off x="1064585" y="4590190"/>
            <a:ext cx="2704012" cy="1107996"/>
          </a:xfrm>
          <a:prstGeom prst="rect">
            <a:avLst/>
          </a:prstGeom>
          <a:noFill/>
        </p:spPr>
        <p:txBody>
          <a:bodyPr wrap="square" rtlCol="0">
            <a:spAutoFit/>
          </a:bodyPr>
          <a:lstStyle/>
          <a:p>
            <a:r>
              <a:rPr lang="en-US" sz="1100" b="1" dirty="0"/>
              <a:t>STEP 2:  COACH INTRODUCTION</a:t>
            </a:r>
          </a:p>
          <a:p>
            <a:r>
              <a:rPr lang="en-US" sz="1100" dirty="0"/>
              <a:t>Coach reviews info submitted by dieter:</a:t>
            </a:r>
          </a:p>
          <a:p>
            <a:pPr marL="285750" indent="-285750">
              <a:buFont typeface="Arial" panose="020B0604020202020204" pitchFamily="34" charset="0"/>
              <a:buChar char="•"/>
            </a:pPr>
            <a:r>
              <a:rPr lang="en-US" sz="1100" dirty="0"/>
              <a:t>Makes suggestions if warranted</a:t>
            </a:r>
          </a:p>
          <a:p>
            <a:pPr marL="285750" indent="-285750">
              <a:buFont typeface="Arial" panose="020B0604020202020204" pitchFamily="34" charset="0"/>
              <a:buChar char="•"/>
            </a:pPr>
            <a:r>
              <a:rPr lang="en-US" sz="1100" dirty="0"/>
              <a:t>Ensures all necessary info provided</a:t>
            </a:r>
          </a:p>
          <a:p>
            <a:pPr marL="285750" indent="-285750">
              <a:buFont typeface="Arial" panose="020B0604020202020204" pitchFamily="34" charset="0"/>
              <a:buChar char="•"/>
            </a:pPr>
            <a:r>
              <a:rPr lang="en-US" sz="1100" dirty="0"/>
              <a:t>Establishes rapport / contact dynamic</a:t>
            </a:r>
          </a:p>
          <a:p>
            <a:pPr marL="285750" indent="-285750">
              <a:buFont typeface="Arial" panose="020B0604020202020204" pitchFamily="34" charset="0"/>
              <a:buChar char="•"/>
            </a:pPr>
            <a:r>
              <a:rPr lang="en-US" sz="1100" dirty="0"/>
              <a:t>Provides initial encouragement</a:t>
            </a:r>
          </a:p>
        </p:txBody>
      </p:sp>
      <p:sp>
        <p:nvSpPr>
          <p:cNvPr id="7" name="TextBox 6">
            <a:extLst>
              <a:ext uri="{FF2B5EF4-FFF2-40B4-BE49-F238E27FC236}">
                <a16:creationId xmlns:a16="http://schemas.microsoft.com/office/drawing/2014/main" id="{D8E426C5-7585-0415-FA71-36FC29B4D59A}"/>
              </a:ext>
            </a:extLst>
          </p:cNvPr>
          <p:cNvSpPr txBox="1"/>
          <p:nvPr/>
        </p:nvSpPr>
        <p:spPr>
          <a:xfrm>
            <a:off x="7557780" y="2005009"/>
            <a:ext cx="3291878" cy="1615827"/>
          </a:xfrm>
          <a:prstGeom prst="rect">
            <a:avLst/>
          </a:prstGeom>
          <a:noFill/>
        </p:spPr>
        <p:txBody>
          <a:bodyPr wrap="square" rtlCol="0">
            <a:spAutoFit/>
          </a:bodyPr>
          <a:lstStyle/>
          <a:p>
            <a:r>
              <a:rPr lang="en-US" sz="1100" b="1" dirty="0"/>
              <a:t>SOS CONTENT FLOW</a:t>
            </a:r>
          </a:p>
          <a:p>
            <a:r>
              <a:rPr lang="en-US" sz="1100" dirty="0"/>
              <a:t>SOS App begins sending info:</a:t>
            </a:r>
          </a:p>
          <a:p>
            <a:r>
              <a:rPr lang="en-US" sz="1100" dirty="0"/>
              <a:t>- Daily diet tips </a:t>
            </a:r>
          </a:p>
          <a:p>
            <a:r>
              <a:rPr lang="en-US" sz="1100" dirty="0"/>
              <a:t>- Daily recipe</a:t>
            </a:r>
          </a:p>
          <a:p>
            <a:r>
              <a:rPr lang="en-US" sz="1100" dirty="0"/>
              <a:t>- Daily encouragement</a:t>
            </a:r>
          </a:p>
          <a:p>
            <a:r>
              <a:rPr lang="en-US" sz="1100" dirty="0"/>
              <a:t>- Asks about any slipups</a:t>
            </a:r>
          </a:p>
          <a:p>
            <a:r>
              <a:rPr lang="en-US" sz="1100" dirty="0"/>
              <a:t>- Asks for dieter to submit journal entry for the previous day (assess how diet day went)</a:t>
            </a:r>
          </a:p>
          <a:p>
            <a:r>
              <a:rPr lang="en-US" sz="1100" dirty="0"/>
              <a:t>- Reinforces SOS is available if needed</a:t>
            </a:r>
          </a:p>
        </p:txBody>
      </p:sp>
      <p:sp>
        <p:nvSpPr>
          <p:cNvPr id="8" name="TextBox 7">
            <a:extLst>
              <a:ext uri="{FF2B5EF4-FFF2-40B4-BE49-F238E27FC236}">
                <a16:creationId xmlns:a16="http://schemas.microsoft.com/office/drawing/2014/main" id="{14042B23-05A4-7876-E48D-2EAC60533821}"/>
              </a:ext>
            </a:extLst>
          </p:cNvPr>
          <p:cNvSpPr txBox="1"/>
          <p:nvPr/>
        </p:nvSpPr>
        <p:spPr>
          <a:xfrm>
            <a:off x="9306258" y="4389424"/>
            <a:ext cx="2576855" cy="1277273"/>
          </a:xfrm>
          <a:prstGeom prst="rect">
            <a:avLst/>
          </a:prstGeom>
          <a:noFill/>
        </p:spPr>
        <p:txBody>
          <a:bodyPr wrap="square" rtlCol="0">
            <a:spAutoFit/>
          </a:bodyPr>
          <a:lstStyle/>
          <a:p>
            <a:r>
              <a:rPr lang="en-US" sz="1100" b="1" dirty="0"/>
              <a:t>COACH CHECK-INS</a:t>
            </a:r>
          </a:p>
          <a:p>
            <a:r>
              <a:rPr lang="en-US" sz="1100" dirty="0"/>
              <a:t>Coach reaches out to dieter at regular interval:</a:t>
            </a:r>
          </a:p>
          <a:p>
            <a:pPr marL="285750" indent="-285750">
              <a:buFont typeface="Arial" panose="020B0604020202020204" pitchFamily="34" charset="0"/>
              <a:buChar char="•"/>
            </a:pPr>
            <a:r>
              <a:rPr lang="en-US" sz="1100" dirty="0"/>
              <a:t>Every month at least once</a:t>
            </a:r>
          </a:p>
          <a:p>
            <a:pPr marL="285750" indent="-285750">
              <a:buFont typeface="Arial" panose="020B0604020202020204" pitchFamily="34" charset="0"/>
              <a:buChar char="•"/>
            </a:pPr>
            <a:r>
              <a:rPr lang="en-US" sz="1100" dirty="0"/>
              <a:t>Some type of follow-up communication if SOS has been hit</a:t>
            </a:r>
          </a:p>
          <a:p>
            <a:pPr marL="285750" indent="-285750">
              <a:buFont typeface="Arial" panose="020B0604020202020204" pitchFamily="34" charset="0"/>
              <a:buChar char="•"/>
            </a:pPr>
            <a:r>
              <a:rPr lang="en-US" sz="1100" dirty="0"/>
              <a:t>Reaffirm goals / adjust goals</a:t>
            </a:r>
          </a:p>
        </p:txBody>
      </p:sp>
      <p:sp>
        <p:nvSpPr>
          <p:cNvPr id="13" name="TextBox 12">
            <a:extLst>
              <a:ext uri="{FF2B5EF4-FFF2-40B4-BE49-F238E27FC236}">
                <a16:creationId xmlns:a16="http://schemas.microsoft.com/office/drawing/2014/main" id="{48CCBC8C-37C6-DB19-CDAB-D29FEA8D960B}"/>
              </a:ext>
            </a:extLst>
          </p:cNvPr>
          <p:cNvSpPr txBox="1"/>
          <p:nvPr/>
        </p:nvSpPr>
        <p:spPr>
          <a:xfrm>
            <a:off x="5776593" y="4390089"/>
            <a:ext cx="2704012" cy="938719"/>
          </a:xfrm>
          <a:prstGeom prst="rect">
            <a:avLst/>
          </a:prstGeom>
          <a:noFill/>
        </p:spPr>
        <p:txBody>
          <a:bodyPr wrap="square" rtlCol="0">
            <a:spAutoFit/>
          </a:bodyPr>
          <a:lstStyle/>
          <a:p>
            <a:r>
              <a:rPr lang="en-US" sz="1100" b="1" dirty="0"/>
              <a:t>DIETER CONTRIBUTIONS / INTERACTIONS</a:t>
            </a:r>
          </a:p>
          <a:p>
            <a:r>
              <a:rPr lang="en-US" sz="1100" dirty="0"/>
              <a:t>Dieter prompted to submit info regularly:</a:t>
            </a:r>
          </a:p>
          <a:p>
            <a:pPr marL="285750" indent="-285750">
              <a:buFont typeface="Arial" panose="020B0604020202020204" pitchFamily="34" charset="0"/>
              <a:buChar char="•"/>
            </a:pPr>
            <a:r>
              <a:rPr lang="en-US" sz="1100" dirty="0"/>
              <a:t>Daily journal entry</a:t>
            </a:r>
          </a:p>
          <a:p>
            <a:pPr marL="285750" indent="-285750">
              <a:buFont typeface="Arial" panose="020B0604020202020204" pitchFamily="34" charset="0"/>
              <a:buChar char="•"/>
            </a:pPr>
            <a:r>
              <a:rPr lang="en-US" sz="1100" dirty="0"/>
              <a:t>Rank how you are feeling</a:t>
            </a:r>
          </a:p>
          <a:p>
            <a:pPr marL="285750" indent="-285750">
              <a:buFont typeface="Arial" panose="020B0604020202020204" pitchFamily="34" charset="0"/>
              <a:buChar char="•"/>
            </a:pPr>
            <a:r>
              <a:rPr lang="en-US" sz="1100" dirty="0"/>
              <a:t>Enter weight</a:t>
            </a:r>
          </a:p>
        </p:txBody>
      </p:sp>
      <p:sp>
        <p:nvSpPr>
          <p:cNvPr id="19" name="Up-Down Arrow 18">
            <a:extLst>
              <a:ext uri="{FF2B5EF4-FFF2-40B4-BE49-F238E27FC236}">
                <a16:creationId xmlns:a16="http://schemas.microsoft.com/office/drawing/2014/main" id="{F64CB955-272A-3D9E-8EF5-251644E29594}"/>
              </a:ext>
            </a:extLst>
          </p:cNvPr>
          <p:cNvSpPr/>
          <p:nvPr/>
        </p:nvSpPr>
        <p:spPr>
          <a:xfrm rot="2157304">
            <a:off x="8296796" y="3647298"/>
            <a:ext cx="287553" cy="704742"/>
          </a:xfrm>
          <a:prstGeom prst="up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Up-Down Arrow 19">
            <a:extLst>
              <a:ext uri="{FF2B5EF4-FFF2-40B4-BE49-F238E27FC236}">
                <a16:creationId xmlns:a16="http://schemas.microsoft.com/office/drawing/2014/main" id="{180D5F42-4DC9-9F17-0D6B-10BACE53CC0F}"/>
              </a:ext>
            </a:extLst>
          </p:cNvPr>
          <p:cNvSpPr/>
          <p:nvPr/>
        </p:nvSpPr>
        <p:spPr>
          <a:xfrm rot="19739684">
            <a:off x="9172217" y="3660967"/>
            <a:ext cx="287553" cy="704742"/>
          </a:xfrm>
          <a:prstGeom prst="up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Up-Down Arrow 20">
            <a:extLst>
              <a:ext uri="{FF2B5EF4-FFF2-40B4-BE49-F238E27FC236}">
                <a16:creationId xmlns:a16="http://schemas.microsoft.com/office/drawing/2014/main" id="{04338461-B300-A7D3-B915-55641A22F117}"/>
              </a:ext>
            </a:extLst>
          </p:cNvPr>
          <p:cNvSpPr/>
          <p:nvPr/>
        </p:nvSpPr>
        <p:spPr>
          <a:xfrm rot="16200000">
            <a:off x="8689200" y="4259480"/>
            <a:ext cx="287553" cy="704742"/>
          </a:xfrm>
          <a:prstGeom prst="up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ight Arrow 21">
            <a:extLst>
              <a:ext uri="{FF2B5EF4-FFF2-40B4-BE49-F238E27FC236}">
                <a16:creationId xmlns:a16="http://schemas.microsoft.com/office/drawing/2014/main" id="{2AB424CE-2368-47F5-7077-B502482649B2}"/>
              </a:ext>
            </a:extLst>
          </p:cNvPr>
          <p:cNvSpPr/>
          <p:nvPr/>
        </p:nvSpPr>
        <p:spPr>
          <a:xfrm>
            <a:off x="4532811" y="3553097"/>
            <a:ext cx="1058092" cy="53557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Box 23">
            <a:extLst>
              <a:ext uri="{FF2B5EF4-FFF2-40B4-BE49-F238E27FC236}">
                <a16:creationId xmlns:a16="http://schemas.microsoft.com/office/drawing/2014/main" id="{0A76AEE6-DFC9-8B41-9B04-A945BF6E3244}"/>
              </a:ext>
            </a:extLst>
          </p:cNvPr>
          <p:cNvSpPr txBox="1"/>
          <p:nvPr/>
        </p:nvSpPr>
        <p:spPr>
          <a:xfrm>
            <a:off x="2219808" y="1351034"/>
            <a:ext cx="780983" cy="369332"/>
          </a:xfrm>
          <a:prstGeom prst="rect">
            <a:avLst/>
          </a:prstGeom>
          <a:noFill/>
        </p:spPr>
        <p:txBody>
          <a:bodyPr wrap="none" rtlCol="0">
            <a:spAutoFit/>
          </a:bodyPr>
          <a:lstStyle/>
          <a:p>
            <a:r>
              <a:rPr lang="en-US" dirty="0"/>
              <a:t>SETUP</a:t>
            </a:r>
          </a:p>
        </p:txBody>
      </p:sp>
      <p:sp>
        <p:nvSpPr>
          <p:cNvPr id="25" name="TextBox 24">
            <a:extLst>
              <a:ext uri="{FF2B5EF4-FFF2-40B4-BE49-F238E27FC236}">
                <a16:creationId xmlns:a16="http://schemas.microsoft.com/office/drawing/2014/main" id="{D15E45D9-6BC7-62DA-AD54-4360F2A80C19}"/>
              </a:ext>
            </a:extLst>
          </p:cNvPr>
          <p:cNvSpPr txBox="1"/>
          <p:nvPr/>
        </p:nvSpPr>
        <p:spPr>
          <a:xfrm>
            <a:off x="7796266" y="1361256"/>
            <a:ext cx="2579039" cy="369332"/>
          </a:xfrm>
          <a:prstGeom prst="rect">
            <a:avLst/>
          </a:prstGeom>
          <a:noFill/>
        </p:spPr>
        <p:txBody>
          <a:bodyPr wrap="none" rtlCol="0">
            <a:spAutoFit/>
          </a:bodyPr>
          <a:lstStyle/>
          <a:p>
            <a:r>
              <a:rPr lang="en-US" dirty="0"/>
              <a:t>ONGOING INTERACTIONS</a:t>
            </a:r>
          </a:p>
        </p:txBody>
      </p:sp>
    </p:spTree>
    <p:extLst>
      <p:ext uri="{BB962C8B-B14F-4D97-AF65-F5344CB8AC3E}">
        <p14:creationId xmlns:p14="http://schemas.microsoft.com/office/powerpoint/2010/main" val="2200862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E73E0-959D-03E8-014A-348FC48C47C6}"/>
              </a:ext>
            </a:extLst>
          </p:cNvPr>
          <p:cNvSpPr>
            <a:spLocks noGrp="1"/>
          </p:cNvSpPr>
          <p:nvPr>
            <p:ph type="title"/>
          </p:nvPr>
        </p:nvSpPr>
        <p:spPr/>
        <p:txBody>
          <a:bodyPr/>
          <a:lstStyle/>
          <a:p>
            <a:r>
              <a:rPr lang="en-US" dirty="0"/>
              <a:t>Things to Think About</a:t>
            </a:r>
          </a:p>
        </p:txBody>
      </p:sp>
      <p:sp>
        <p:nvSpPr>
          <p:cNvPr id="3" name="Content Placeholder 2">
            <a:extLst>
              <a:ext uri="{FF2B5EF4-FFF2-40B4-BE49-F238E27FC236}">
                <a16:creationId xmlns:a16="http://schemas.microsoft.com/office/drawing/2014/main" id="{C9E524E9-F783-E8BA-83F0-5A5EF767D6A4}"/>
              </a:ext>
            </a:extLst>
          </p:cNvPr>
          <p:cNvSpPr>
            <a:spLocks noGrp="1"/>
          </p:cNvSpPr>
          <p:nvPr>
            <p:ph idx="1"/>
          </p:nvPr>
        </p:nvSpPr>
        <p:spPr/>
        <p:txBody>
          <a:bodyPr/>
          <a:lstStyle/>
          <a:p>
            <a:pPr marL="0" indent="0">
              <a:buNone/>
            </a:pPr>
            <a:r>
              <a:rPr lang="en-US" dirty="0"/>
              <a:t>How does this capability integrate with Humanaut App?</a:t>
            </a:r>
          </a:p>
          <a:p>
            <a:pPr marL="0" indent="0">
              <a:buNone/>
            </a:pPr>
            <a:r>
              <a:rPr lang="en-US" dirty="0"/>
              <a:t>Can we pull in functionality from other apps (i.e. food log, recipes, etc.) </a:t>
            </a:r>
          </a:p>
          <a:p>
            <a:pPr marL="0" indent="0">
              <a:buNone/>
            </a:pPr>
            <a:r>
              <a:rPr lang="en-US" dirty="0"/>
              <a:t>Is this just for Humanaut members or for anyone?</a:t>
            </a:r>
          </a:p>
          <a:p>
            <a:pPr marL="0" indent="0">
              <a:buNone/>
            </a:pPr>
            <a:r>
              <a:rPr lang="en-US" dirty="0"/>
              <a:t>Do we integrate Humanaut community for things like weight loss challenges?  </a:t>
            </a:r>
          </a:p>
          <a:p>
            <a:pPr marL="0" indent="0">
              <a:buNone/>
            </a:pPr>
            <a:endParaRPr lang="en-US" dirty="0"/>
          </a:p>
          <a:p>
            <a:pPr marL="0" indent="0">
              <a:buNone/>
            </a:pPr>
            <a:endParaRPr lang="en-US" dirty="0"/>
          </a:p>
          <a:p>
            <a:endParaRPr lang="en-US" dirty="0"/>
          </a:p>
          <a:p>
            <a:pPr marL="0" indent="0">
              <a:buNone/>
            </a:pPr>
            <a:endParaRPr lang="en-US" dirty="0"/>
          </a:p>
        </p:txBody>
      </p:sp>
    </p:spTree>
    <p:extLst>
      <p:ext uri="{BB962C8B-B14F-4D97-AF65-F5344CB8AC3E}">
        <p14:creationId xmlns:p14="http://schemas.microsoft.com/office/powerpoint/2010/main" val="7265518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E73E0-959D-03E8-014A-348FC48C47C6}"/>
              </a:ext>
            </a:extLst>
          </p:cNvPr>
          <p:cNvSpPr>
            <a:spLocks noGrp="1"/>
          </p:cNvSpPr>
          <p:nvPr>
            <p:ph type="title"/>
          </p:nvPr>
        </p:nvSpPr>
        <p:spPr/>
        <p:txBody>
          <a:bodyPr/>
          <a:lstStyle/>
          <a:p>
            <a:r>
              <a:rPr lang="en-US" dirty="0"/>
              <a:t>Alternative Names vs. SOS</a:t>
            </a:r>
          </a:p>
        </p:txBody>
      </p:sp>
      <p:sp>
        <p:nvSpPr>
          <p:cNvPr id="3" name="Content Placeholder 2">
            <a:extLst>
              <a:ext uri="{FF2B5EF4-FFF2-40B4-BE49-F238E27FC236}">
                <a16:creationId xmlns:a16="http://schemas.microsoft.com/office/drawing/2014/main" id="{C9E524E9-F783-E8BA-83F0-5A5EF767D6A4}"/>
              </a:ext>
            </a:extLst>
          </p:cNvPr>
          <p:cNvSpPr>
            <a:spLocks noGrp="1"/>
          </p:cNvSpPr>
          <p:nvPr>
            <p:ph idx="1"/>
          </p:nvPr>
        </p:nvSpPr>
        <p:spPr>
          <a:xfrm>
            <a:off x="838200" y="1690688"/>
            <a:ext cx="10515600" cy="4351338"/>
          </a:xfrm>
        </p:spPr>
        <p:txBody>
          <a:bodyPr>
            <a:normAutofit/>
          </a:bodyPr>
          <a:lstStyle/>
          <a:p>
            <a:pPr marL="0" indent="0">
              <a:buNone/>
            </a:pPr>
            <a:r>
              <a:rPr lang="en-US" sz="2400" dirty="0"/>
              <a:t>Food Distress Call</a:t>
            </a:r>
          </a:p>
          <a:p>
            <a:pPr marL="0" indent="0">
              <a:buNone/>
            </a:pPr>
            <a:r>
              <a:rPr lang="en-US" sz="2400" dirty="0"/>
              <a:t>Panic Aide</a:t>
            </a:r>
          </a:p>
          <a:p>
            <a:pPr marL="0" indent="0">
              <a:buNone/>
            </a:pPr>
            <a:r>
              <a:rPr lang="en-US" sz="2400" dirty="0"/>
              <a:t>Diet Mate</a:t>
            </a:r>
          </a:p>
          <a:p>
            <a:pPr marL="0" indent="0">
              <a:buNone/>
            </a:pPr>
            <a:r>
              <a:rPr lang="en-US" sz="2400" dirty="0"/>
              <a:t>Slim Button</a:t>
            </a:r>
          </a:p>
          <a:p>
            <a:pPr marL="0" indent="0">
              <a:buNone/>
            </a:pPr>
            <a:r>
              <a:rPr lang="en-US" sz="2400" dirty="0"/>
              <a:t>Diet Distress</a:t>
            </a:r>
          </a:p>
          <a:p>
            <a:pPr marL="0" indent="0">
              <a:buNone/>
            </a:pPr>
            <a:r>
              <a:rPr lang="en-US" sz="2400" dirty="0"/>
              <a:t>Calling Ground Control</a:t>
            </a:r>
          </a:p>
          <a:p>
            <a:pPr marL="0" indent="0">
              <a:buNone/>
            </a:pPr>
            <a:endParaRPr lang="en-US" sz="2400" dirty="0"/>
          </a:p>
          <a:p>
            <a:pPr marL="0" indent="0">
              <a:buNone/>
            </a:pPr>
            <a:r>
              <a:rPr lang="en-US" sz="2400" dirty="0"/>
              <a:t>Any other ideas?</a:t>
            </a:r>
          </a:p>
          <a:p>
            <a:pPr marL="0" indent="0">
              <a:buNone/>
            </a:pPr>
            <a:endParaRPr lang="en-US" sz="2400" dirty="0"/>
          </a:p>
        </p:txBody>
      </p:sp>
    </p:spTree>
    <p:extLst>
      <p:ext uri="{BB962C8B-B14F-4D97-AF65-F5344CB8AC3E}">
        <p14:creationId xmlns:p14="http://schemas.microsoft.com/office/powerpoint/2010/main" val="30431260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E73E0-959D-03E8-014A-348FC48C47C6}"/>
              </a:ext>
            </a:extLst>
          </p:cNvPr>
          <p:cNvSpPr>
            <a:spLocks noGrp="1"/>
          </p:cNvSpPr>
          <p:nvPr>
            <p:ph type="title"/>
          </p:nvPr>
        </p:nvSpPr>
        <p:spPr>
          <a:xfrm>
            <a:off x="1386840" y="2494371"/>
            <a:ext cx="10515600" cy="1325563"/>
          </a:xfrm>
        </p:spPr>
        <p:txBody>
          <a:bodyPr/>
          <a:lstStyle/>
          <a:p>
            <a:pPr algn="ctr"/>
            <a:r>
              <a:rPr lang="en-US" dirty="0"/>
              <a:t>Potential Future Enhancements</a:t>
            </a:r>
          </a:p>
        </p:txBody>
      </p:sp>
    </p:spTree>
    <p:extLst>
      <p:ext uri="{BB962C8B-B14F-4D97-AF65-F5344CB8AC3E}">
        <p14:creationId xmlns:p14="http://schemas.microsoft.com/office/powerpoint/2010/main" val="3436898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24458-E1A5-0A72-DC62-DE34280C3DC0}"/>
              </a:ext>
            </a:extLst>
          </p:cNvPr>
          <p:cNvSpPr>
            <a:spLocks noGrp="1"/>
          </p:cNvSpPr>
          <p:nvPr>
            <p:ph type="title"/>
          </p:nvPr>
        </p:nvSpPr>
        <p:spPr>
          <a:xfrm>
            <a:off x="4137164" y="233257"/>
            <a:ext cx="8004063" cy="1325563"/>
          </a:xfrm>
        </p:spPr>
        <p:txBody>
          <a:bodyPr>
            <a:normAutofit/>
          </a:bodyPr>
          <a:lstStyle/>
          <a:p>
            <a:pPr algn="ctr"/>
            <a:r>
              <a:rPr lang="en-US" sz="4400" dirty="0"/>
              <a:t>Other Tools</a:t>
            </a:r>
            <a:br>
              <a:rPr lang="en-US" sz="4400" dirty="0"/>
            </a:br>
            <a:r>
              <a:rPr lang="en-US" sz="4400" dirty="0"/>
              <a:t>Creat</a:t>
            </a:r>
            <a:r>
              <a:rPr lang="en-US" dirty="0"/>
              <a:t>e A Group Challenge</a:t>
            </a:r>
          </a:p>
        </p:txBody>
      </p:sp>
      <p:pic>
        <p:nvPicPr>
          <p:cNvPr id="4" name="Picture 3">
            <a:extLst>
              <a:ext uri="{FF2B5EF4-FFF2-40B4-BE49-F238E27FC236}">
                <a16:creationId xmlns:a16="http://schemas.microsoft.com/office/drawing/2014/main" id="{F3EA1A44-1688-4828-5317-1869D13CB8A1}"/>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139013" y="534824"/>
            <a:ext cx="3089190" cy="5980352"/>
          </a:xfrm>
          <a:prstGeom prst="rect">
            <a:avLst/>
          </a:prstGeom>
        </p:spPr>
      </p:pic>
      <p:sp>
        <p:nvSpPr>
          <p:cNvPr id="5" name="TextBox 4">
            <a:extLst>
              <a:ext uri="{FF2B5EF4-FFF2-40B4-BE49-F238E27FC236}">
                <a16:creationId xmlns:a16="http://schemas.microsoft.com/office/drawing/2014/main" id="{F7E217F7-28E0-A926-0DDA-466AA0BA7377}"/>
              </a:ext>
            </a:extLst>
          </p:cNvPr>
          <p:cNvSpPr txBox="1"/>
          <p:nvPr/>
        </p:nvSpPr>
        <p:spPr>
          <a:xfrm>
            <a:off x="455824" y="5866481"/>
            <a:ext cx="616944" cy="246221"/>
          </a:xfrm>
          <a:prstGeom prst="rect">
            <a:avLst/>
          </a:prstGeom>
          <a:noFill/>
        </p:spPr>
        <p:txBody>
          <a:bodyPr wrap="square" rtlCol="0">
            <a:spAutoFit/>
          </a:bodyPr>
          <a:lstStyle/>
          <a:p>
            <a:r>
              <a:rPr lang="en-US" sz="1000" b="1" dirty="0"/>
              <a:t>Account</a:t>
            </a:r>
          </a:p>
        </p:txBody>
      </p:sp>
      <p:sp>
        <p:nvSpPr>
          <p:cNvPr id="6" name="TextBox 5">
            <a:extLst>
              <a:ext uri="{FF2B5EF4-FFF2-40B4-BE49-F238E27FC236}">
                <a16:creationId xmlns:a16="http://schemas.microsoft.com/office/drawing/2014/main" id="{2CE6AD0F-394B-2534-7274-B8C56451259B}"/>
              </a:ext>
            </a:extLst>
          </p:cNvPr>
          <p:cNvSpPr txBox="1"/>
          <p:nvPr/>
        </p:nvSpPr>
        <p:spPr>
          <a:xfrm>
            <a:off x="1023921" y="5866481"/>
            <a:ext cx="590226" cy="246221"/>
          </a:xfrm>
          <a:prstGeom prst="rect">
            <a:avLst/>
          </a:prstGeom>
          <a:noFill/>
        </p:spPr>
        <p:txBody>
          <a:bodyPr wrap="none" rtlCol="0">
            <a:spAutoFit/>
          </a:bodyPr>
          <a:lstStyle/>
          <a:p>
            <a:r>
              <a:rPr lang="en-US" sz="1000" b="1" dirty="0"/>
              <a:t>Activity</a:t>
            </a:r>
            <a:endParaRPr lang="en-US" sz="1100" b="1" dirty="0"/>
          </a:p>
        </p:txBody>
      </p:sp>
      <p:sp>
        <p:nvSpPr>
          <p:cNvPr id="7" name="TextBox 6">
            <a:extLst>
              <a:ext uri="{FF2B5EF4-FFF2-40B4-BE49-F238E27FC236}">
                <a16:creationId xmlns:a16="http://schemas.microsoft.com/office/drawing/2014/main" id="{D241D35C-7357-D065-A60B-1D30586170F7}"/>
              </a:ext>
            </a:extLst>
          </p:cNvPr>
          <p:cNvSpPr txBox="1"/>
          <p:nvPr/>
        </p:nvSpPr>
        <p:spPr>
          <a:xfrm>
            <a:off x="1547667" y="5866481"/>
            <a:ext cx="535724" cy="246221"/>
          </a:xfrm>
          <a:prstGeom prst="rect">
            <a:avLst/>
          </a:prstGeom>
          <a:noFill/>
        </p:spPr>
        <p:txBody>
          <a:bodyPr wrap="none" rtlCol="0">
            <a:spAutoFit/>
          </a:bodyPr>
          <a:lstStyle/>
          <a:p>
            <a:r>
              <a:rPr lang="en-US" sz="1000" b="1" dirty="0"/>
              <a:t>Profile</a:t>
            </a:r>
            <a:endParaRPr lang="en-US" sz="1100" b="1" dirty="0"/>
          </a:p>
        </p:txBody>
      </p:sp>
      <p:sp>
        <p:nvSpPr>
          <p:cNvPr id="8" name="TextBox 7">
            <a:extLst>
              <a:ext uri="{FF2B5EF4-FFF2-40B4-BE49-F238E27FC236}">
                <a16:creationId xmlns:a16="http://schemas.microsoft.com/office/drawing/2014/main" id="{F46D542E-0796-17F0-E036-E503E303546E}"/>
              </a:ext>
            </a:extLst>
          </p:cNvPr>
          <p:cNvSpPr txBox="1"/>
          <p:nvPr/>
        </p:nvSpPr>
        <p:spPr>
          <a:xfrm>
            <a:off x="2375545" y="5866481"/>
            <a:ext cx="470000" cy="246221"/>
          </a:xfrm>
          <a:prstGeom prst="rect">
            <a:avLst/>
          </a:prstGeom>
          <a:solidFill>
            <a:schemeClr val="bg1"/>
          </a:solidFill>
        </p:spPr>
        <p:txBody>
          <a:bodyPr wrap="none" rtlCol="0">
            <a:spAutoFit/>
          </a:bodyPr>
          <a:lstStyle/>
          <a:p>
            <a:r>
              <a:rPr lang="en-US" sz="1000" b="1" dirty="0"/>
              <a:t>Panic</a:t>
            </a:r>
            <a:endParaRPr lang="en-US" sz="1100" b="1" dirty="0"/>
          </a:p>
        </p:txBody>
      </p:sp>
      <p:sp>
        <p:nvSpPr>
          <p:cNvPr id="9" name="TextBox 8">
            <a:extLst>
              <a:ext uri="{FF2B5EF4-FFF2-40B4-BE49-F238E27FC236}">
                <a16:creationId xmlns:a16="http://schemas.microsoft.com/office/drawing/2014/main" id="{AECEFADC-FDFD-74C1-121C-854D2F451A77}"/>
              </a:ext>
            </a:extLst>
          </p:cNvPr>
          <p:cNvSpPr txBox="1"/>
          <p:nvPr/>
        </p:nvSpPr>
        <p:spPr>
          <a:xfrm>
            <a:off x="2021720" y="5866481"/>
            <a:ext cx="402674" cy="246221"/>
          </a:xfrm>
          <a:prstGeom prst="rect">
            <a:avLst/>
          </a:prstGeom>
          <a:solidFill>
            <a:schemeClr val="bg1"/>
          </a:solidFill>
        </p:spPr>
        <p:txBody>
          <a:bodyPr wrap="none" rtlCol="0">
            <a:spAutoFit/>
          </a:bodyPr>
          <a:lstStyle/>
          <a:p>
            <a:r>
              <a:rPr lang="en-US" sz="1000" b="1" dirty="0"/>
              <a:t>Cart</a:t>
            </a:r>
            <a:endParaRPr lang="en-US" sz="1100" b="1" dirty="0"/>
          </a:p>
        </p:txBody>
      </p:sp>
      <p:sp>
        <p:nvSpPr>
          <p:cNvPr id="13" name="TextBox 12">
            <a:extLst>
              <a:ext uri="{FF2B5EF4-FFF2-40B4-BE49-F238E27FC236}">
                <a16:creationId xmlns:a16="http://schemas.microsoft.com/office/drawing/2014/main" id="{7C02589A-D891-3D6C-37A8-854CF63BAE2B}"/>
              </a:ext>
            </a:extLst>
          </p:cNvPr>
          <p:cNvSpPr txBox="1"/>
          <p:nvPr/>
        </p:nvSpPr>
        <p:spPr>
          <a:xfrm>
            <a:off x="4047650" y="1690688"/>
            <a:ext cx="8004063" cy="3293209"/>
          </a:xfrm>
          <a:prstGeom prst="rect">
            <a:avLst/>
          </a:prstGeom>
          <a:noFill/>
        </p:spPr>
        <p:txBody>
          <a:bodyPr wrap="square" rtlCol="0">
            <a:spAutoFit/>
          </a:bodyPr>
          <a:lstStyle/>
          <a:p>
            <a:r>
              <a:rPr lang="en-US" sz="1600" dirty="0"/>
              <a:t>Create the ability to pull together a group for a weight loss challenge</a:t>
            </a:r>
          </a:p>
          <a:p>
            <a:endParaRPr lang="en-US" sz="1600" dirty="0"/>
          </a:p>
          <a:p>
            <a:r>
              <a:rPr lang="en-US" sz="1600" dirty="0"/>
              <a:t>Add rules for the challenge.</a:t>
            </a:r>
          </a:p>
          <a:p>
            <a:endParaRPr lang="en-US" sz="1600" dirty="0"/>
          </a:p>
          <a:p>
            <a:r>
              <a:rPr lang="en-US" sz="1600" dirty="0"/>
              <a:t>Add prizes for the winner(s).  Could include the ability for participants to fund the prizes i.e. everyone contributes x% or dollar amount to the cause. </a:t>
            </a:r>
          </a:p>
          <a:p>
            <a:endParaRPr lang="en-US" sz="1600" dirty="0"/>
          </a:p>
          <a:p>
            <a:r>
              <a:rPr lang="en-US" sz="1600" dirty="0"/>
              <a:t>Send updates the group every day.</a:t>
            </a:r>
          </a:p>
          <a:p>
            <a:endParaRPr lang="en-US" sz="1600" dirty="0"/>
          </a:p>
          <a:p>
            <a:r>
              <a:rPr lang="en-US" sz="1600" dirty="0"/>
              <a:t>Participants need to submit weight every day so they will interact regularly.</a:t>
            </a:r>
          </a:p>
          <a:p>
            <a:endParaRPr lang="en-US" sz="1600" dirty="0"/>
          </a:p>
          <a:p>
            <a:r>
              <a:rPr lang="en-US" sz="1600" dirty="0"/>
              <a:t>If participants doesn’t enter weight for three straight days, they are dropped (i.e. they are the loser of the challenge or one of the losers).</a:t>
            </a:r>
          </a:p>
        </p:txBody>
      </p:sp>
      <p:pic>
        <p:nvPicPr>
          <p:cNvPr id="10" name="Picture 9" descr="A screenshot of a computer&#10;&#10;Description automatically generated">
            <a:extLst>
              <a:ext uri="{FF2B5EF4-FFF2-40B4-BE49-F238E27FC236}">
                <a16:creationId xmlns:a16="http://schemas.microsoft.com/office/drawing/2014/main" id="{16691595-8A02-003F-B670-BAE6B72C09FC}"/>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455823" y="959862"/>
            <a:ext cx="2453617" cy="3977897"/>
          </a:xfrm>
          <a:prstGeom prst="rect">
            <a:avLst/>
          </a:prstGeom>
        </p:spPr>
      </p:pic>
      <p:sp>
        <p:nvSpPr>
          <p:cNvPr id="11" name="TextBox 10">
            <a:extLst>
              <a:ext uri="{FF2B5EF4-FFF2-40B4-BE49-F238E27FC236}">
                <a16:creationId xmlns:a16="http://schemas.microsoft.com/office/drawing/2014/main" id="{29474678-EC2B-0639-CDC4-D65484D21222}"/>
              </a:ext>
            </a:extLst>
          </p:cNvPr>
          <p:cNvSpPr txBox="1"/>
          <p:nvPr/>
        </p:nvSpPr>
        <p:spPr>
          <a:xfrm>
            <a:off x="455823" y="4969719"/>
            <a:ext cx="2430068" cy="338554"/>
          </a:xfrm>
          <a:prstGeom prst="rect">
            <a:avLst/>
          </a:prstGeom>
          <a:noFill/>
        </p:spPr>
        <p:txBody>
          <a:bodyPr wrap="square">
            <a:spAutoFit/>
          </a:bodyPr>
          <a:lstStyle/>
          <a:p>
            <a:r>
              <a:rPr lang="en-US" sz="1600" b="1" i="0" u="none" strike="noStrike" dirty="0">
                <a:effectLst/>
                <a:latin typeface="Limerick Serial"/>
              </a:rPr>
              <a:t>Prize for </a:t>
            </a:r>
            <a:r>
              <a:rPr lang="en-US" sz="1600" b="1" dirty="0">
                <a:latin typeface="Limerick Serial"/>
              </a:rPr>
              <a:t>Winner</a:t>
            </a:r>
          </a:p>
        </p:txBody>
      </p:sp>
      <p:pic>
        <p:nvPicPr>
          <p:cNvPr id="12" name="Picture 11" descr="A screenshot of a computer&#10;&#10;Description automatically generated">
            <a:extLst>
              <a:ext uri="{FF2B5EF4-FFF2-40B4-BE49-F238E27FC236}">
                <a16:creationId xmlns:a16="http://schemas.microsoft.com/office/drawing/2014/main" id="{45951E73-1DB3-3A7E-29C0-FBA04B41EE54}"/>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569485" y="5206838"/>
            <a:ext cx="503283" cy="659643"/>
          </a:xfrm>
          <a:prstGeom prst="rect">
            <a:avLst/>
          </a:prstGeom>
        </p:spPr>
      </p:pic>
      <p:sp>
        <p:nvSpPr>
          <p:cNvPr id="14" name="TextBox 13">
            <a:extLst>
              <a:ext uri="{FF2B5EF4-FFF2-40B4-BE49-F238E27FC236}">
                <a16:creationId xmlns:a16="http://schemas.microsoft.com/office/drawing/2014/main" id="{758BBE49-B794-470F-A47B-81D885317698}"/>
              </a:ext>
            </a:extLst>
          </p:cNvPr>
          <p:cNvSpPr txBox="1"/>
          <p:nvPr/>
        </p:nvSpPr>
        <p:spPr>
          <a:xfrm>
            <a:off x="1057564" y="5418100"/>
            <a:ext cx="2430068" cy="276999"/>
          </a:xfrm>
          <a:prstGeom prst="rect">
            <a:avLst/>
          </a:prstGeom>
          <a:noFill/>
        </p:spPr>
        <p:txBody>
          <a:bodyPr wrap="square">
            <a:spAutoFit/>
          </a:bodyPr>
          <a:lstStyle/>
          <a:p>
            <a:r>
              <a:rPr lang="en-US" sz="1200" dirty="0">
                <a:latin typeface="Limerick Serial"/>
              </a:rPr>
              <a:t>New Paradigm Driver</a:t>
            </a:r>
          </a:p>
        </p:txBody>
      </p:sp>
    </p:spTree>
    <p:extLst>
      <p:ext uri="{BB962C8B-B14F-4D97-AF65-F5344CB8AC3E}">
        <p14:creationId xmlns:p14="http://schemas.microsoft.com/office/powerpoint/2010/main" val="37960315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24458-E1A5-0A72-DC62-DE34280C3DC0}"/>
              </a:ext>
            </a:extLst>
          </p:cNvPr>
          <p:cNvSpPr>
            <a:spLocks noGrp="1"/>
          </p:cNvSpPr>
          <p:nvPr>
            <p:ph type="title"/>
          </p:nvPr>
        </p:nvSpPr>
        <p:spPr>
          <a:xfrm>
            <a:off x="3228204" y="233257"/>
            <a:ext cx="8913024" cy="1325563"/>
          </a:xfrm>
        </p:spPr>
        <p:txBody>
          <a:bodyPr>
            <a:normAutofit fontScale="90000"/>
          </a:bodyPr>
          <a:lstStyle/>
          <a:p>
            <a:pPr algn="ctr"/>
            <a:r>
              <a:rPr lang="en-US" sz="4400" dirty="0"/>
              <a:t>Other Tools</a:t>
            </a:r>
            <a:br>
              <a:rPr lang="en-US" sz="4400" dirty="0"/>
            </a:br>
            <a:r>
              <a:rPr lang="en-US" dirty="0"/>
              <a:t>Best Choices at Your Favorite </a:t>
            </a:r>
            <a:r>
              <a:rPr lang="en-US" sz="4400" dirty="0"/>
              <a:t>Restaurants </a:t>
            </a:r>
            <a:endParaRPr lang="en-US" dirty="0"/>
          </a:p>
        </p:txBody>
      </p:sp>
      <p:pic>
        <p:nvPicPr>
          <p:cNvPr id="4" name="Picture 3">
            <a:extLst>
              <a:ext uri="{FF2B5EF4-FFF2-40B4-BE49-F238E27FC236}">
                <a16:creationId xmlns:a16="http://schemas.microsoft.com/office/drawing/2014/main" id="{F3EA1A44-1688-4828-5317-1869D13CB8A1}"/>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139013" y="534824"/>
            <a:ext cx="3089190" cy="5980352"/>
          </a:xfrm>
          <a:prstGeom prst="rect">
            <a:avLst/>
          </a:prstGeom>
        </p:spPr>
      </p:pic>
      <p:sp>
        <p:nvSpPr>
          <p:cNvPr id="5" name="TextBox 4">
            <a:extLst>
              <a:ext uri="{FF2B5EF4-FFF2-40B4-BE49-F238E27FC236}">
                <a16:creationId xmlns:a16="http://schemas.microsoft.com/office/drawing/2014/main" id="{F7E217F7-28E0-A926-0DDA-466AA0BA7377}"/>
              </a:ext>
            </a:extLst>
          </p:cNvPr>
          <p:cNvSpPr txBox="1"/>
          <p:nvPr/>
        </p:nvSpPr>
        <p:spPr>
          <a:xfrm>
            <a:off x="455824" y="5866481"/>
            <a:ext cx="616944" cy="246221"/>
          </a:xfrm>
          <a:prstGeom prst="rect">
            <a:avLst/>
          </a:prstGeom>
          <a:noFill/>
        </p:spPr>
        <p:txBody>
          <a:bodyPr wrap="square" rtlCol="0">
            <a:spAutoFit/>
          </a:bodyPr>
          <a:lstStyle/>
          <a:p>
            <a:r>
              <a:rPr lang="en-US" sz="1000" b="1" dirty="0"/>
              <a:t>Account</a:t>
            </a:r>
          </a:p>
        </p:txBody>
      </p:sp>
      <p:sp>
        <p:nvSpPr>
          <p:cNvPr id="6" name="TextBox 5">
            <a:extLst>
              <a:ext uri="{FF2B5EF4-FFF2-40B4-BE49-F238E27FC236}">
                <a16:creationId xmlns:a16="http://schemas.microsoft.com/office/drawing/2014/main" id="{2CE6AD0F-394B-2534-7274-B8C56451259B}"/>
              </a:ext>
            </a:extLst>
          </p:cNvPr>
          <p:cNvSpPr txBox="1"/>
          <p:nvPr/>
        </p:nvSpPr>
        <p:spPr>
          <a:xfrm>
            <a:off x="1023921" y="5866481"/>
            <a:ext cx="590226" cy="246221"/>
          </a:xfrm>
          <a:prstGeom prst="rect">
            <a:avLst/>
          </a:prstGeom>
          <a:noFill/>
        </p:spPr>
        <p:txBody>
          <a:bodyPr wrap="none" rtlCol="0">
            <a:spAutoFit/>
          </a:bodyPr>
          <a:lstStyle/>
          <a:p>
            <a:r>
              <a:rPr lang="en-US" sz="1000" b="1" dirty="0"/>
              <a:t>Activity</a:t>
            </a:r>
            <a:endParaRPr lang="en-US" sz="1100" b="1" dirty="0"/>
          </a:p>
        </p:txBody>
      </p:sp>
      <p:sp>
        <p:nvSpPr>
          <p:cNvPr id="7" name="TextBox 6">
            <a:extLst>
              <a:ext uri="{FF2B5EF4-FFF2-40B4-BE49-F238E27FC236}">
                <a16:creationId xmlns:a16="http://schemas.microsoft.com/office/drawing/2014/main" id="{D241D35C-7357-D065-A60B-1D30586170F7}"/>
              </a:ext>
            </a:extLst>
          </p:cNvPr>
          <p:cNvSpPr txBox="1"/>
          <p:nvPr/>
        </p:nvSpPr>
        <p:spPr>
          <a:xfrm>
            <a:off x="1547667" y="5866481"/>
            <a:ext cx="535724" cy="246221"/>
          </a:xfrm>
          <a:prstGeom prst="rect">
            <a:avLst/>
          </a:prstGeom>
          <a:noFill/>
        </p:spPr>
        <p:txBody>
          <a:bodyPr wrap="none" rtlCol="0">
            <a:spAutoFit/>
          </a:bodyPr>
          <a:lstStyle/>
          <a:p>
            <a:r>
              <a:rPr lang="en-US" sz="1000" b="1" dirty="0"/>
              <a:t>Profile</a:t>
            </a:r>
            <a:endParaRPr lang="en-US" sz="1100" b="1" dirty="0"/>
          </a:p>
        </p:txBody>
      </p:sp>
      <p:sp>
        <p:nvSpPr>
          <p:cNvPr id="8" name="TextBox 7">
            <a:extLst>
              <a:ext uri="{FF2B5EF4-FFF2-40B4-BE49-F238E27FC236}">
                <a16:creationId xmlns:a16="http://schemas.microsoft.com/office/drawing/2014/main" id="{F46D542E-0796-17F0-E036-E503E303546E}"/>
              </a:ext>
            </a:extLst>
          </p:cNvPr>
          <p:cNvSpPr txBox="1"/>
          <p:nvPr/>
        </p:nvSpPr>
        <p:spPr>
          <a:xfrm>
            <a:off x="2375545" y="5866481"/>
            <a:ext cx="470000" cy="246221"/>
          </a:xfrm>
          <a:prstGeom prst="rect">
            <a:avLst/>
          </a:prstGeom>
          <a:solidFill>
            <a:schemeClr val="bg1"/>
          </a:solidFill>
        </p:spPr>
        <p:txBody>
          <a:bodyPr wrap="none" rtlCol="0">
            <a:spAutoFit/>
          </a:bodyPr>
          <a:lstStyle/>
          <a:p>
            <a:r>
              <a:rPr lang="en-US" sz="1000" b="1" dirty="0"/>
              <a:t>Panic</a:t>
            </a:r>
            <a:endParaRPr lang="en-US" sz="1100" b="1" dirty="0"/>
          </a:p>
        </p:txBody>
      </p:sp>
      <p:sp>
        <p:nvSpPr>
          <p:cNvPr id="9" name="TextBox 8">
            <a:extLst>
              <a:ext uri="{FF2B5EF4-FFF2-40B4-BE49-F238E27FC236}">
                <a16:creationId xmlns:a16="http://schemas.microsoft.com/office/drawing/2014/main" id="{AECEFADC-FDFD-74C1-121C-854D2F451A77}"/>
              </a:ext>
            </a:extLst>
          </p:cNvPr>
          <p:cNvSpPr txBox="1"/>
          <p:nvPr/>
        </p:nvSpPr>
        <p:spPr>
          <a:xfrm>
            <a:off x="2021720" y="5866481"/>
            <a:ext cx="402674" cy="246221"/>
          </a:xfrm>
          <a:prstGeom prst="rect">
            <a:avLst/>
          </a:prstGeom>
          <a:solidFill>
            <a:schemeClr val="bg1"/>
          </a:solidFill>
        </p:spPr>
        <p:txBody>
          <a:bodyPr wrap="none" rtlCol="0">
            <a:spAutoFit/>
          </a:bodyPr>
          <a:lstStyle/>
          <a:p>
            <a:r>
              <a:rPr lang="en-US" sz="1000" b="1" dirty="0"/>
              <a:t>Cart</a:t>
            </a:r>
            <a:endParaRPr lang="en-US" sz="1100" b="1" dirty="0"/>
          </a:p>
        </p:txBody>
      </p:sp>
      <p:sp>
        <p:nvSpPr>
          <p:cNvPr id="13" name="TextBox 12">
            <a:extLst>
              <a:ext uri="{FF2B5EF4-FFF2-40B4-BE49-F238E27FC236}">
                <a16:creationId xmlns:a16="http://schemas.microsoft.com/office/drawing/2014/main" id="{7C02589A-D891-3D6C-37A8-854CF63BAE2B}"/>
              </a:ext>
            </a:extLst>
          </p:cNvPr>
          <p:cNvSpPr txBox="1"/>
          <p:nvPr/>
        </p:nvSpPr>
        <p:spPr>
          <a:xfrm>
            <a:off x="4047650" y="1690688"/>
            <a:ext cx="8004063" cy="2062103"/>
          </a:xfrm>
          <a:prstGeom prst="rect">
            <a:avLst/>
          </a:prstGeom>
          <a:noFill/>
        </p:spPr>
        <p:txBody>
          <a:bodyPr wrap="square" rtlCol="0">
            <a:spAutoFit/>
          </a:bodyPr>
          <a:lstStyle/>
          <a:p>
            <a:r>
              <a:rPr lang="en-US" sz="1600" dirty="0"/>
              <a:t>Dieter can provide list of top ten favorite restaurants.</a:t>
            </a:r>
          </a:p>
          <a:p>
            <a:endParaRPr lang="en-US" sz="1600" dirty="0"/>
          </a:p>
          <a:p>
            <a:r>
              <a:rPr lang="en-US" sz="1600" dirty="0"/>
              <a:t>AI can scan menus and make healthy choices and/or rank the menu choices.</a:t>
            </a:r>
          </a:p>
          <a:p>
            <a:endParaRPr lang="en-US" sz="1600" dirty="0"/>
          </a:p>
          <a:p>
            <a:r>
              <a:rPr lang="en-US" sz="1600" dirty="0"/>
              <a:t>Choices could be aligned with dieters’ food preferences.  </a:t>
            </a:r>
          </a:p>
          <a:p>
            <a:endParaRPr lang="en-US" sz="1600" dirty="0"/>
          </a:p>
          <a:p>
            <a:r>
              <a:rPr lang="en-US" sz="1600" dirty="0"/>
              <a:t>Dieter could enter specific requirements and see best choices i.e. need 40 grams of protein, max of 1,200 calories, etc.  </a:t>
            </a:r>
          </a:p>
        </p:txBody>
      </p:sp>
      <p:pic>
        <p:nvPicPr>
          <p:cNvPr id="10" name="Picture 9" descr="A screenshot of a computer&#10;&#10;Description automatically generated">
            <a:extLst>
              <a:ext uri="{FF2B5EF4-FFF2-40B4-BE49-F238E27FC236}">
                <a16:creationId xmlns:a16="http://schemas.microsoft.com/office/drawing/2014/main" id="{7FBDBAD9-3E84-43BC-461D-238691724EE8}"/>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455824" y="896038"/>
            <a:ext cx="2389721" cy="4869038"/>
          </a:xfrm>
          <a:prstGeom prst="rect">
            <a:avLst/>
          </a:prstGeom>
        </p:spPr>
      </p:pic>
    </p:spTree>
    <p:extLst>
      <p:ext uri="{BB962C8B-B14F-4D97-AF65-F5344CB8AC3E}">
        <p14:creationId xmlns:p14="http://schemas.microsoft.com/office/powerpoint/2010/main" val="40553835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3EA1A44-1688-4828-5317-1869D13CB8A1}"/>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139013" y="534824"/>
            <a:ext cx="3089190" cy="5980352"/>
          </a:xfrm>
          <a:prstGeom prst="rect">
            <a:avLst/>
          </a:prstGeom>
        </p:spPr>
      </p:pic>
      <p:sp>
        <p:nvSpPr>
          <p:cNvPr id="27" name="Rectangle 26">
            <a:extLst>
              <a:ext uri="{FF2B5EF4-FFF2-40B4-BE49-F238E27FC236}">
                <a16:creationId xmlns:a16="http://schemas.microsoft.com/office/drawing/2014/main" id="{2E912E86-D811-C4D6-A22C-E5CFA523EDC2}"/>
              </a:ext>
            </a:extLst>
          </p:cNvPr>
          <p:cNvSpPr/>
          <p:nvPr/>
        </p:nvSpPr>
        <p:spPr>
          <a:xfrm>
            <a:off x="628481" y="5121829"/>
            <a:ext cx="2204001" cy="765198"/>
          </a:xfrm>
          <a:prstGeom prst="rect">
            <a:avLst/>
          </a:prstGeom>
          <a:solidFill>
            <a:schemeClr val="accent2">
              <a:lumMod val="20000"/>
              <a:lumOff val="80000"/>
            </a:schemeClr>
          </a:solidFill>
          <a:ln>
            <a:solidFill>
              <a:schemeClr val="accent1">
                <a:shade val="15000"/>
                <a:alpha val="19946"/>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6724458-E1A5-0A72-DC62-DE34280C3DC0}"/>
              </a:ext>
            </a:extLst>
          </p:cNvPr>
          <p:cNvSpPr>
            <a:spLocks noGrp="1"/>
          </p:cNvSpPr>
          <p:nvPr>
            <p:ph type="title"/>
          </p:nvPr>
        </p:nvSpPr>
        <p:spPr>
          <a:xfrm>
            <a:off x="4137164" y="233257"/>
            <a:ext cx="8004063" cy="1325563"/>
          </a:xfrm>
        </p:spPr>
        <p:txBody>
          <a:bodyPr>
            <a:normAutofit/>
          </a:bodyPr>
          <a:lstStyle/>
          <a:p>
            <a:pPr algn="ctr"/>
            <a:r>
              <a:rPr lang="en-US" sz="4400" dirty="0"/>
              <a:t>Other Tools</a:t>
            </a:r>
            <a:br>
              <a:rPr lang="en-US" sz="4400" dirty="0"/>
            </a:br>
            <a:r>
              <a:rPr lang="en-US" sz="4400" dirty="0"/>
              <a:t>“Food Alias”</a:t>
            </a:r>
            <a:endParaRPr lang="en-US" dirty="0"/>
          </a:p>
        </p:txBody>
      </p:sp>
      <p:sp>
        <p:nvSpPr>
          <p:cNvPr id="5" name="TextBox 4">
            <a:extLst>
              <a:ext uri="{FF2B5EF4-FFF2-40B4-BE49-F238E27FC236}">
                <a16:creationId xmlns:a16="http://schemas.microsoft.com/office/drawing/2014/main" id="{F7E217F7-28E0-A926-0DDA-466AA0BA7377}"/>
              </a:ext>
            </a:extLst>
          </p:cNvPr>
          <p:cNvSpPr txBox="1"/>
          <p:nvPr/>
        </p:nvSpPr>
        <p:spPr>
          <a:xfrm>
            <a:off x="455824" y="5866481"/>
            <a:ext cx="616944" cy="246221"/>
          </a:xfrm>
          <a:prstGeom prst="rect">
            <a:avLst/>
          </a:prstGeom>
          <a:noFill/>
        </p:spPr>
        <p:txBody>
          <a:bodyPr wrap="square" rtlCol="0">
            <a:spAutoFit/>
          </a:bodyPr>
          <a:lstStyle/>
          <a:p>
            <a:r>
              <a:rPr lang="en-US" sz="1000" b="1" dirty="0"/>
              <a:t>Account</a:t>
            </a:r>
          </a:p>
        </p:txBody>
      </p:sp>
      <p:sp>
        <p:nvSpPr>
          <p:cNvPr id="6" name="TextBox 5">
            <a:extLst>
              <a:ext uri="{FF2B5EF4-FFF2-40B4-BE49-F238E27FC236}">
                <a16:creationId xmlns:a16="http://schemas.microsoft.com/office/drawing/2014/main" id="{2CE6AD0F-394B-2534-7274-B8C56451259B}"/>
              </a:ext>
            </a:extLst>
          </p:cNvPr>
          <p:cNvSpPr txBox="1"/>
          <p:nvPr/>
        </p:nvSpPr>
        <p:spPr>
          <a:xfrm>
            <a:off x="1023921" y="5866481"/>
            <a:ext cx="590226" cy="246221"/>
          </a:xfrm>
          <a:prstGeom prst="rect">
            <a:avLst/>
          </a:prstGeom>
          <a:noFill/>
        </p:spPr>
        <p:txBody>
          <a:bodyPr wrap="none" rtlCol="0">
            <a:spAutoFit/>
          </a:bodyPr>
          <a:lstStyle/>
          <a:p>
            <a:r>
              <a:rPr lang="en-US" sz="1000" b="1" dirty="0"/>
              <a:t>Activity</a:t>
            </a:r>
            <a:endParaRPr lang="en-US" sz="1100" b="1" dirty="0"/>
          </a:p>
        </p:txBody>
      </p:sp>
      <p:sp>
        <p:nvSpPr>
          <p:cNvPr id="7" name="TextBox 6">
            <a:extLst>
              <a:ext uri="{FF2B5EF4-FFF2-40B4-BE49-F238E27FC236}">
                <a16:creationId xmlns:a16="http://schemas.microsoft.com/office/drawing/2014/main" id="{D241D35C-7357-D065-A60B-1D30586170F7}"/>
              </a:ext>
            </a:extLst>
          </p:cNvPr>
          <p:cNvSpPr txBox="1"/>
          <p:nvPr/>
        </p:nvSpPr>
        <p:spPr>
          <a:xfrm>
            <a:off x="1547667" y="5866481"/>
            <a:ext cx="535724" cy="246221"/>
          </a:xfrm>
          <a:prstGeom prst="rect">
            <a:avLst/>
          </a:prstGeom>
          <a:noFill/>
        </p:spPr>
        <p:txBody>
          <a:bodyPr wrap="none" rtlCol="0">
            <a:spAutoFit/>
          </a:bodyPr>
          <a:lstStyle/>
          <a:p>
            <a:r>
              <a:rPr lang="en-US" sz="1000" b="1" dirty="0"/>
              <a:t>Profile</a:t>
            </a:r>
            <a:endParaRPr lang="en-US" sz="1100" b="1" dirty="0"/>
          </a:p>
        </p:txBody>
      </p:sp>
      <p:sp>
        <p:nvSpPr>
          <p:cNvPr id="8" name="TextBox 7">
            <a:extLst>
              <a:ext uri="{FF2B5EF4-FFF2-40B4-BE49-F238E27FC236}">
                <a16:creationId xmlns:a16="http://schemas.microsoft.com/office/drawing/2014/main" id="{F46D542E-0796-17F0-E036-E503E303546E}"/>
              </a:ext>
            </a:extLst>
          </p:cNvPr>
          <p:cNvSpPr txBox="1"/>
          <p:nvPr/>
        </p:nvSpPr>
        <p:spPr>
          <a:xfrm>
            <a:off x="2375545" y="5866481"/>
            <a:ext cx="470000" cy="246221"/>
          </a:xfrm>
          <a:prstGeom prst="rect">
            <a:avLst/>
          </a:prstGeom>
          <a:solidFill>
            <a:schemeClr val="bg1"/>
          </a:solidFill>
        </p:spPr>
        <p:txBody>
          <a:bodyPr wrap="none" rtlCol="0">
            <a:spAutoFit/>
          </a:bodyPr>
          <a:lstStyle/>
          <a:p>
            <a:r>
              <a:rPr lang="en-US" sz="1000" b="1" dirty="0"/>
              <a:t>Panic</a:t>
            </a:r>
            <a:endParaRPr lang="en-US" sz="1100" b="1" dirty="0"/>
          </a:p>
        </p:txBody>
      </p:sp>
      <p:sp>
        <p:nvSpPr>
          <p:cNvPr id="9" name="TextBox 8">
            <a:extLst>
              <a:ext uri="{FF2B5EF4-FFF2-40B4-BE49-F238E27FC236}">
                <a16:creationId xmlns:a16="http://schemas.microsoft.com/office/drawing/2014/main" id="{AECEFADC-FDFD-74C1-121C-854D2F451A77}"/>
              </a:ext>
            </a:extLst>
          </p:cNvPr>
          <p:cNvSpPr txBox="1"/>
          <p:nvPr/>
        </p:nvSpPr>
        <p:spPr>
          <a:xfrm>
            <a:off x="2021720" y="5866481"/>
            <a:ext cx="402674" cy="246221"/>
          </a:xfrm>
          <a:prstGeom prst="rect">
            <a:avLst/>
          </a:prstGeom>
          <a:solidFill>
            <a:schemeClr val="bg1"/>
          </a:solidFill>
        </p:spPr>
        <p:txBody>
          <a:bodyPr wrap="none" rtlCol="0">
            <a:spAutoFit/>
          </a:bodyPr>
          <a:lstStyle/>
          <a:p>
            <a:r>
              <a:rPr lang="en-US" sz="1000" b="1" dirty="0"/>
              <a:t>Cart</a:t>
            </a:r>
            <a:endParaRPr lang="en-US" sz="1100" b="1" dirty="0"/>
          </a:p>
        </p:txBody>
      </p:sp>
      <p:sp>
        <p:nvSpPr>
          <p:cNvPr id="13" name="TextBox 12">
            <a:extLst>
              <a:ext uri="{FF2B5EF4-FFF2-40B4-BE49-F238E27FC236}">
                <a16:creationId xmlns:a16="http://schemas.microsoft.com/office/drawing/2014/main" id="{7C02589A-D891-3D6C-37A8-854CF63BAE2B}"/>
              </a:ext>
            </a:extLst>
          </p:cNvPr>
          <p:cNvSpPr txBox="1"/>
          <p:nvPr/>
        </p:nvSpPr>
        <p:spPr>
          <a:xfrm>
            <a:off x="4047650" y="1690688"/>
            <a:ext cx="8004063" cy="2308324"/>
          </a:xfrm>
          <a:prstGeom prst="rect">
            <a:avLst/>
          </a:prstGeom>
          <a:noFill/>
        </p:spPr>
        <p:txBody>
          <a:bodyPr wrap="square" rtlCol="0">
            <a:spAutoFit/>
          </a:bodyPr>
          <a:lstStyle/>
          <a:p>
            <a:r>
              <a:rPr lang="en-US" sz="1600" dirty="0"/>
              <a:t>Dieter can enter a food and see logical alternatives i.e. enter apple streusel and system shows different fruit alternatives, enter bread pudding and system shows panna cotta.</a:t>
            </a:r>
          </a:p>
          <a:p>
            <a:endParaRPr lang="en-US" sz="1600" dirty="0"/>
          </a:p>
          <a:p>
            <a:r>
              <a:rPr lang="en-US" sz="1600" dirty="0"/>
              <a:t>There could be a scale that allows dieter to select how healthy the alternatives should be:</a:t>
            </a:r>
          </a:p>
          <a:p>
            <a:r>
              <a:rPr lang="en-US" sz="1600" dirty="0"/>
              <a:t>- if scale is set to very healthy then apple pie alternative might be fruit salad</a:t>
            </a:r>
          </a:p>
          <a:p>
            <a:r>
              <a:rPr lang="en-US" sz="1600" dirty="0"/>
              <a:t>- if scale is set to medium healthy then apple pie alternative might be apple sauce</a:t>
            </a:r>
          </a:p>
          <a:p>
            <a:r>
              <a:rPr lang="en-US" sz="1600" dirty="0"/>
              <a:t>- if scale is set to not particularly healthy then apple pie</a:t>
            </a:r>
          </a:p>
          <a:p>
            <a:endParaRPr lang="en-US" sz="1600" dirty="0"/>
          </a:p>
          <a:p>
            <a:r>
              <a:rPr lang="en-US" sz="1600" dirty="0"/>
              <a:t>Once alternative is displayed, recipe would also be accessible.</a:t>
            </a:r>
          </a:p>
        </p:txBody>
      </p:sp>
      <p:sp>
        <p:nvSpPr>
          <p:cNvPr id="3" name="TextBox 2">
            <a:extLst>
              <a:ext uri="{FF2B5EF4-FFF2-40B4-BE49-F238E27FC236}">
                <a16:creationId xmlns:a16="http://schemas.microsoft.com/office/drawing/2014/main" id="{62705D29-9CA1-2B00-F117-BB146E2D1FF9}"/>
              </a:ext>
            </a:extLst>
          </p:cNvPr>
          <p:cNvSpPr txBox="1"/>
          <p:nvPr/>
        </p:nvSpPr>
        <p:spPr>
          <a:xfrm>
            <a:off x="699636" y="5376965"/>
            <a:ext cx="587020" cy="400110"/>
          </a:xfrm>
          <a:prstGeom prst="rect">
            <a:avLst/>
          </a:prstGeom>
          <a:noFill/>
        </p:spPr>
        <p:txBody>
          <a:bodyPr wrap="none" rtlCol="0">
            <a:spAutoFit/>
          </a:bodyPr>
          <a:lstStyle/>
          <a:p>
            <a:pPr algn="ctr"/>
            <a:r>
              <a:rPr lang="en-US" sz="1000" dirty="0"/>
              <a:t>Very </a:t>
            </a:r>
          </a:p>
          <a:p>
            <a:pPr algn="ctr"/>
            <a:r>
              <a:rPr lang="en-US" sz="1000" dirty="0"/>
              <a:t>Healthy</a:t>
            </a:r>
          </a:p>
        </p:txBody>
      </p:sp>
      <p:sp>
        <p:nvSpPr>
          <p:cNvPr id="11" name="TextBox 10">
            <a:extLst>
              <a:ext uri="{FF2B5EF4-FFF2-40B4-BE49-F238E27FC236}">
                <a16:creationId xmlns:a16="http://schemas.microsoft.com/office/drawing/2014/main" id="{B4EEFFF8-9647-C6EB-7E7E-481714A272EB}"/>
              </a:ext>
            </a:extLst>
          </p:cNvPr>
          <p:cNvSpPr txBox="1"/>
          <p:nvPr/>
        </p:nvSpPr>
        <p:spPr>
          <a:xfrm>
            <a:off x="1421156" y="5382413"/>
            <a:ext cx="587020" cy="400110"/>
          </a:xfrm>
          <a:prstGeom prst="rect">
            <a:avLst/>
          </a:prstGeom>
          <a:noFill/>
        </p:spPr>
        <p:txBody>
          <a:bodyPr wrap="none" rtlCol="0">
            <a:spAutoFit/>
          </a:bodyPr>
          <a:lstStyle/>
          <a:p>
            <a:pPr algn="ctr"/>
            <a:r>
              <a:rPr lang="en-US" sz="1000" dirty="0"/>
              <a:t>Mid </a:t>
            </a:r>
          </a:p>
          <a:p>
            <a:pPr algn="ctr"/>
            <a:r>
              <a:rPr lang="en-US" sz="1000" dirty="0"/>
              <a:t>Healthy</a:t>
            </a:r>
          </a:p>
        </p:txBody>
      </p:sp>
      <p:sp>
        <p:nvSpPr>
          <p:cNvPr id="14" name="TextBox 13">
            <a:extLst>
              <a:ext uri="{FF2B5EF4-FFF2-40B4-BE49-F238E27FC236}">
                <a16:creationId xmlns:a16="http://schemas.microsoft.com/office/drawing/2014/main" id="{99AC5C09-6EF2-FA1B-17BD-4D73C3410EDE}"/>
              </a:ext>
            </a:extLst>
          </p:cNvPr>
          <p:cNvSpPr txBox="1"/>
          <p:nvPr/>
        </p:nvSpPr>
        <p:spPr>
          <a:xfrm>
            <a:off x="2155531" y="5382413"/>
            <a:ext cx="667170" cy="400110"/>
          </a:xfrm>
          <a:prstGeom prst="rect">
            <a:avLst/>
          </a:prstGeom>
          <a:noFill/>
        </p:spPr>
        <p:txBody>
          <a:bodyPr wrap="none" rtlCol="0">
            <a:spAutoFit/>
          </a:bodyPr>
          <a:lstStyle/>
          <a:p>
            <a:pPr algn="ctr"/>
            <a:r>
              <a:rPr lang="en-US" sz="1000" dirty="0"/>
              <a:t>Little  </a:t>
            </a:r>
          </a:p>
          <a:p>
            <a:pPr algn="ctr"/>
            <a:r>
              <a:rPr lang="en-US" sz="1000" dirty="0"/>
              <a:t>Healthier</a:t>
            </a:r>
          </a:p>
        </p:txBody>
      </p:sp>
      <p:cxnSp>
        <p:nvCxnSpPr>
          <p:cNvPr id="16" name="Straight Connector 15">
            <a:extLst>
              <a:ext uri="{FF2B5EF4-FFF2-40B4-BE49-F238E27FC236}">
                <a16:creationId xmlns:a16="http://schemas.microsoft.com/office/drawing/2014/main" id="{9898E3F7-65B0-ACA0-C1F4-9F5ADE032C72}"/>
              </a:ext>
            </a:extLst>
          </p:cNvPr>
          <p:cNvCxnSpPr/>
          <p:nvPr/>
        </p:nvCxnSpPr>
        <p:spPr>
          <a:xfrm>
            <a:off x="877867" y="5277910"/>
            <a:ext cx="1660098"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7" name="Oval 16">
            <a:extLst>
              <a:ext uri="{FF2B5EF4-FFF2-40B4-BE49-F238E27FC236}">
                <a16:creationId xmlns:a16="http://schemas.microsoft.com/office/drawing/2014/main" id="{AD6E16AA-271E-2545-DDD1-B85B6D2774A9}"/>
              </a:ext>
            </a:extLst>
          </p:cNvPr>
          <p:cNvSpPr/>
          <p:nvPr/>
        </p:nvSpPr>
        <p:spPr>
          <a:xfrm>
            <a:off x="1025986" y="5193438"/>
            <a:ext cx="117880" cy="13062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9" name="Picture 18" descr="A screenshot of a computer&#10;&#10;Description automatically generated">
            <a:extLst>
              <a:ext uri="{FF2B5EF4-FFF2-40B4-BE49-F238E27FC236}">
                <a16:creationId xmlns:a16="http://schemas.microsoft.com/office/drawing/2014/main" id="{08A67E69-DA05-09B0-921A-F3071337808B}"/>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867071" y="1879553"/>
            <a:ext cx="1572458" cy="1473344"/>
          </a:xfrm>
          <a:prstGeom prst="rect">
            <a:avLst/>
          </a:prstGeom>
        </p:spPr>
      </p:pic>
      <p:sp>
        <p:nvSpPr>
          <p:cNvPr id="20" name="TextBox 19">
            <a:extLst>
              <a:ext uri="{FF2B5EF4-FFF2-40B4-BE49-F238E27FC236}">
                <a16:creationId xmlns:a16="http://schemas.microsoft.com/office/drawing/2014/main" id="{3F8D3850-F563-5CA4-3822-5D1B850DF5AA}"/>
              </a:ext>
            </a:extLst>
          </p:cNvPr>
          <p:cNvSpPr txBox="1"/>
          <p:nvPr/>
        </p:nvSpPr>
        <p:spPr>
          <a:xfrm>
            <a:off x="566631" y="1059967"/>
            <a:ext cx="1579663" cy="369332"/>
          </a:xfrm>
          <a:prstGeom prst="rect">
            <a:avLst/>
          </a:prstGeom>
          <a:noFill/>
        </p:spPr>
        <p:txBody>
          <a:bodyPr wrap="none" rtlCol="0">
            <a:spAutoFit/>
          </a:bodyPr>
          <a:lstStyle/>
          <a:p>
            <a:r>
              <a:rPr lang="en-US" dirty="0"/>
              <a:t>Your Selection:</a:t>
            </a:r>
          </a:p>
        </p:txBody>
      </p:sp>
      <p:sp>
        <p:nvSpPr>
          <p:cNvPr id="21" name="TextBox 20">
            <a:extLst>
              <a:ext uri="{FF2B5EF4-FFF2-40B4-BE49-F238E27FC236}">
                <a16:creationId xmlns:a16="http://schemas.microsoft.com/office/drawing/2014/main" id="{F255BC2C-28E8-C8A9-4363-AE5BDE92ECA9}"/>
              </a:ext>
            </a:extLst>
          </p:cNvPr>
          <p:cNvSpPr txBox="1"/>
          <p:nvPr/>
        </p:nvSpPr>
        <p:spPr>
          <a:xfrm>
            <a:off x="551299" y="3429000"/>
            <a:ext cx="2204001" cy="369332"/>
          </a:xfrm>
          <a:prstGeom prst="rect">
            <a:avLst/>
          </a:prstGeom>
          <a:noFill/>
        </p:spPr>
        <p:txBody>
          <a:bodyPr wrap="none" rtlCol="0">
            <a:spAutoFit/>
          </a:bodyPr>
          <a:lstStyle/>
          <a:p>
            <a:r>
              <a:rPr lang="en-US" dirty="0"/>
              <a:t>Healthier Alternative:</a:t>
            </a:r>
          </a:p>
        </p:txBody>
      </p:sp>
      <p:sp>
        <p:nvSpPr>
          <p:cNvPr id="22" name="TextBox 21">
            <a:extLst>
              <a:ext uri="{FF2B5EF4-FFF2-40B4-BE49-F238E27FC236}">
                <a16:creationId xmlns:a16="http://schemas.microsoft.com/office/drawing/2014/main" id="{F09EC5BA-532F-5A33-07D3-88D90150ABCB}"/>
              </a:ext>
            </a:extLst>
          </p:cNvPr>
          <p:cNvSpPr txBox="1"/>
          <p:nvPr/>
        </p:nvSpPr>
        <p:spPr>
          <a:xfrm>
            <a:off x="781629" y="1429299"/>
            <a:ext cx="1657900" cy="369332"/>
          </a:xfrm>
          <a:prstGeom prst="rect">
            <a:avLst/>
          </a:prstGeom>
          <a:solidFill>
            <a:schemeClr val="accent1">
              <a:lumMod val="40000"/>
              <a:lumOff val="60000"/>
            </a:schemeClr>
          </a:solidFill>
        </p:spPr>
        <p:txBody>
          <a:bodyPr wrap="square" rtlCol="0">
            <a:spAutoFit/>
          </a:bodyPr>
          <a:lstStyle/>
          <a:p>
            <a:r>
              <a:rPr lang="en-US" dirty="0"/>
              <a:t>Apple Pie</a:t>
            </a:r>
          </a:p>
        </p:txBody>
      </p:sp>
      <p:pic>
        <p:nvPicPr>
          <p:cNvPr id="24" name="Picture 23" descr="A screenshot of a computer&#10;&#10;Description automatically generated">
            <a:extLst>
              <a:ext uri="{FF2B5EF4-FFF2-40B4-BE49-F238E27FC236}">
                <a16:creationId xmlns:a16="http://schemas.microsoft.com/office/drawing/2014/main" id="{99113C81-6EDC-044C-AB4C-456333327B64}"/>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813722" y="3759971"/>
            <a:ext cx="1010623" cy="1249008"/>
          </a:xfrm>
          <a:prstGeom prst="rect">
            <a:avLst/>
          </a:prstGeom>
        </p:spPr>
      </p:pic>
      <p:sp>
        <p:nvSpPr>
          <p:cNvPr id="25" name="TextBox 24">
            <a:extLst>
              <a:ext uri="{FF2B5EF4-FFF2-40B4-BE49-F238E27FC236}">
                <a16:creationId xmlns:a16="http://schemas.microsoft.com/office/drawing/2014/main" id="{3BCC9D13-76F2-E6CD-C09A-8A51747D5F4D}"/>
              </a:ext>
            </a:extLst>
          </p:cNvPr>
          <p:cNvSpPr txBox="1"/>
          <p:nvPr/>
        </p:nvSpPr>
        <p:spPr>
          <a:xfrm>
            <a:off x="1849918" y="4099994"/>
            <a:ext cx="746278" cy="600164"/>
          </a:xfrm>
          <a:prstGeom prst="rect">
            <a:avLst/>
          </a:prstGeom>
          <a:noFill/>
        </p:spPr>
        <p:txBody>
          <a:bodyPr wrap="square" rtlCol="0">
            <a:spAutoFit/>
          </a:bodyPr>
          <a:lstStyle/>
          <a:p>
            <a:pPr algn="ctr"/>
            <a:r>
              <a:rPr lang="en-US" sz="1100" dirty="0"/>
              <a:t>Rainbow Fruit Salad</a:t>
            </a:r>
          </a:p>
        </p:txBody>
      </p:sp>
      <p:sp>
        <p:nvSpPr>
          <p:cNvPr id="26" name="TextBox 25">
            <a:extLst>
              <a:ext uri="{FF2B5EF4-FFF2-40B4-BE49-F238E27FC236}">
                <a16:creationId xmlns:a16="http://schemas.microsoft.com/office/drawing/2014/main" id="{088C548F-A187-4290-2DB1-20DE8EC7AF7E}"/>
              </a:ext>
            </a:extLst>
          </p:cNvPr>
          <p:cNvSpPr txBox="1"/>
          <p:nvPr/>
        </p:nvSpPr>
        <p:spPr>
          <a:xfrm>
            <a:off x="1728758" y="4740210"/>
            <a:ext cx="1010622" cy="261610"/>
          </a:xfrm>
          <a:prstGeom prst="rect">
            <a:avLst/>
          </a:prstGeom>
          <a:noFill/>
        </p:spPr>
        <p:txBody>
          <a:bodyPr wrap="square" rtlCol="0">
            <a:spAutoFit/>
          </a:bodyPr>
          <a:lstStyle/>
          <a:p>
            <a:pPr algn="ctr"/>
            <a:r>
              <a:rPr lang="en-US" sz="1100" u="sng" dirty="0">
                <a:solidFill>
                  <a:schemeClr val="accent1">
                    <a:lumMod val="75000"/>
                  </a:schemeClr>
                </a:solidFill>
              </a:rPr>
              <a:t>See Recipe</a:t>
            </a:r>
          </a:p>
        </p:txBody>
      </p:sp>
    </p:spTree>
    <p:extLst>
      <p:ext uri="{BB962C8B-B14F-4D97-AF65-F5344CB8AC3E}">
        <p14:creationId xmlns:p14="http://schemas.microsoft.com/office/powerpoint/2010/main" val="37141310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15708</TotalTime>
  <Words>3092</Words>
  <Application>Microsoft Macintosh PowerPoint</Application>
  <PresentationFormat>Widescreen</PresentationFormat>
  <Paragraphs>410</Paragraphs>
  <Slides>23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Arial</vt:lpstr>
      <vt:lpstr>Avenir Next</vt:lpstr>
      <vt:lpstr>Calibri</vt:lpstr>
      <vt:lpstr>Calibri Light</vt:lpstr>
      <vt:lpstr>Limerick Serial</vt:lpstr>
      <vt:lpstr>Nunito Sans</vt:lpstr>
      <vt:lpstr>Poppins</vt:lpstr>
      <vt:lpstr>Office Theme</vt:lpstr>
      <vt:lpstr>SOS (Save One Setback) Button</vt:lpstr>
      <vt:lpstr>Background</vt:lpstr>
      <vt:lpstr>How it works</vt:lpstr>
      <vt:lpstr>SOS</vt:lpstr>
      <vt:lpstr>Help! I’m About To Go Off the Rails Positive Reinforcement</vt:lpstr>
      <vt:lpstr>Help! I’m About To Go Off the Rails Negative Reinforcement</vt:lpstr>
      <vt:lpstr>Help! I’m About To Go Off the Rails Statistical Reinforcement</vt:lpstr>
      <vt:lpstr>Help! I’m About To Go Off the Rails. Rewards Reinforcement</vt:lpstr>
      <vt:lpstr>Help! I’m About To Go Off the Rails Food alternatives</vt:lpstr>
      <vt:lpstr>Help! I’m About To Go Off the Rails Direct Call from Coach</vt:lpstr>
      <vt:lpstr>Help! I’m About To Go Off the Rails Direct call from a loved one</vt:lpstr>
      <vt:lpstr>Help! I’m About To Go Off the Rails Influencer Intervention</vt:lpstr>
      <vt:lpstr>Help! I’m About To Go Off the Rails Influencer Intervention</vt:lpstr>
      <vt:lpstr>Help! I’m About To Go Off the Rails Journal Entries</vt:lpstr>
      <vt:lpstr>Help! I’m About To Go Off the Rails Community Support</vt:lpstr>
      <vt:lpstr>Follow-up after pushing button (either one)</vt:lpstr>
      <vt:lpstr>Basic Flow Chart</vt:lpstr>
      <vt:lpstr>Things to Think About</vt:lpstr>
      <vt:lpstr>Alternative Names vs. SOS</vt:lpstr>
      <vt:lpstr>Potential Future Enhancements</vt:lpstr>
      <vt:lpstr>Other Tools Create A Group Challenge</vt:lpstr>
      <vt:lpstr>Other Tools Best Choices at Your Favorite Restaurants </vt:lpstr>
      <vt:lpstr>Other Tools “Food Alias”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Diet Panic Button</dc:title>
  <dc:creator>Jim Donnelly</dc:creator>
  <cp:lastModifiedBy>Jim Donnelly</cp:lastModifiedBy>
  <cp:revision>6</cp:revision>
  <dcterms:created xsi:type="dcterms:W3CDTF">2023-11-29T23:23:26Z</dcterms:created>
  <dcterms:modified xsi:type="dcterms:W3CDTF">2026-08-18T02:44:27Z</dcterms:modified>
</cp:coreProperties>
</file>